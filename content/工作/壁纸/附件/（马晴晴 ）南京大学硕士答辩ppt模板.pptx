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72" r:id="rId1"/>
  </p:sldMasterIdLst>
  <p:notesMasterIdLst>
    <p:notesMasterId r:id="rId16"/>
  </p:notesMasterIdLst>
  <p:sldIdLst>
    <p:sldId id="256" r:id="rId2"/>
    <p:sldId id="260" r:id="rId3"/>
    <p:sldId id="262" r:id="rId4"/>
    <p:sldId id="261" r:id="rId5"/>
    <p:sldId id="273" r:id="rId6"/>
    <p:sldId id="320" r:id="rId7"/>
    <p:sldId id="277" r:id="rId8"/>
    <p:sldId id="264" r:id="rId9"/>
    <p:sldId id="278" r:id="rId10"/>
    <p:sldId id="301" r:id="rId11"/>
    <p:sldId id="279" r:id="rId12"/>
    <p:sldId id="266" r:id="rId13"/>
    <p:sldId id="267" r:id="rId14"/>
    <p:sldId id="29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5" userDrawn="1">
          <p15:clr>
            <a:srgbClr val="A4A3A4"/>
          </p15:clr>
        </p15:guide>
        <p15:guide id="3"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extLst>
      <p:ext uri="{19B8F6BF-5375-455C-9EA6-DF929625EA0E}">
        <p15:presenceInfo xmlns:p15="http://schemas.microsoft.com/office/powerpoint/2012/main" userId="Windows 用户"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1056C"/>
    <a:srgbClr val="730067"/>
    <a:srgbClr val="318DF3"/>
    <a:srgbClr val="33A8FF"/>
    <a:srgbClr val="CA94E8"/>
    <a:srgbClr val="640460"/>
    <a:srgbClr val="008FFA"/>
    <a:srgbClr val="E094E8"/>
    <a:srgbClr val="BC00BC"/>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98" autoAdjust="0"/>
    <p:restoredTop sz="76492" autoAdjust="0"/>
  </p:normalViewPr>
  <p:slideViewPr>
    <p:cSldViewPr snapToGrid="0" showGuides="1">
      <p:cViewPr varScale="1">
        <p:scale>
          <a:sx n="52" d="100"/>
          <a:sy n="52" d="100"/>
        </p:scale>
        <p:origin x="858" y="54"/>
      </p:cViewPr>
      <p:guideLst>
        <p:guide orient="horz" pos="2160"/>
        <p:guide pos="3795"/>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FB3E2-FDD7-48CD-86AE-19F57B695342}" type="datetimeFigureOut">
              <a:rPr lang="zh-CN" altLang="en-US" smtClean="0"/>
              <a:t>2021/6/8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11B33B-60B1-4CE3-BFF0-D61FB2EF77E0}" type="slidenum">
              <a:rPr lang="zh-CN" altLang="en-US" smtClean="0"/>
              <a:t>‹#›</a:t>
            </a:fld>
            <a:endParaRPr lang="zh-CN" altLang="en-US"/>
          </a:p>
        </p:txBody>
      </p:sp>
    </p:spTree>
    <p:extLst>
      <p:ext uri="{BB962C8B-B14F-4D97-AF65-F5344CB8AC3E}">
        <p14:creationId xmlns:p14="http://schemas.microsoft.com/office/powerpoint/2010/main" val="303791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1</a:t>
            </a:fld>
            <a:endParaRPr lang="zh-CN" altLang="en-US"/>
          </a:p>
        </p:txBody>
      </p:sp>
    </p:spTree>
    <p:extLst>
      <p:ext uri="{BB962C8B-B14F-4D97-AF65-F5344CB8AC3E}">
        <p14:creationId xmlns:p14="http://schemas.microsoft.com/office/powerpoint/2010/main" val="325772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我将从一下</a:t>
            </a:r>
            <a:r>
              <a:rPr lang="en-US" altLang="zh-CN" dirty="0"/>
              <a:t>6</a:t>
            </a:r>
            <a:r>
              <a:rPr lang="zh-CN" altLang="en-US" dirty="0"/>
              <a:t>个方面来汇报我硕士阶段的主要工作。</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2</a:t>
            </a:fld>
            <a:endParaRPr lang="zh-CN" altLang="en-US"/>
          </a:p>
        </p:txBody>
      </p:sp>
    </p:spTree>
    <p:extLst>
      <p:ext uri="{BB962C8B-B14F-4D97-AF65-F5344CB8AC3E}">
        <p14:creationId xmlns:p14="http://schemas.microsoft.com/office/powerpoint/2010/main" val="4028506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3</a:t>
            </a:fld>
            <a:endParaRPr lang="zh-CN" altLang="en-US"/>
          </a:p>
        </p:txBody>
      </p:sp>
    </p:spTree>
    <p:extLst>
      <p:ext uri="{BB962C8B-B14F-4D97-AF65-F5344CB8AC3E}">
        <p14:creationId xmlns:p14="http://schemas.microsoft.com/office/powerpoint/2010/main" val="36772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4</a:t>
            </a:fld>
            <a:endParaRPr lang="zh-CN" altLang="en-US"/>
          </a:p>
        </p:txBody>
      </p:sp>
    </p:spTree>
    <p:extLst>
      <p:ext uri="{BB962C8B-B14F-4D97-AF65-F5344CB8AC3E}">
        <p14:creationId xmlns:p14="http://schemas.microsoft.com/office/powerpoint/2010/main" val="3584678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5</a:t>
            </a:fld>
            <a:endParaRPr lang="zh-CN" altLang="en-US"/>
          </a:p>
        </p:txBody>
      </p:sp>
    </p:spTree>
    <p:extLst>
      <p:ext uri="{BB962C8B-B14F-4D97-AF65-F5344CB8AC3E}">
        <p14:creationId xmlns:p14="http://schemas.microsoft.com/office/powerpoint/2010/main" val="1708554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6</a:t>
            </a:fld>
            <a:endParaRPr lang="zh-CN" altLang="en-US"/>
          </a:p>
        </p:txBody>
      </p:sp>
    </p:spTree>
    <p:extLst>
      <p:ext uri="{BB962C8B-B14F-4D97-AF65-F5344CB8AC3E}">
        <p14:creationId xmlns:p14="http://schemas.microsoft.com/office/powerpoint/2010/main" val="2565146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7</a:t>
            </a:fld>
            <a:endParaRPr lang="zh-CN" altLang="en-US"/>
          </a:p>
        </p:txBody>
      </p:sp>
    </p:spTree>
    <p:extLst>
      <p:ext uri="{BB962C8B-B14F-4D97-AF65-F5344CB8AC3E}">
        <p14:creationId xmlns:p14="http://schemas.microsoft.com/office/powerpoint/2010/main" val="2070238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8</a:t>
            </a:fld>
            <a:endParaRPr lang="zh-CN" altLang="en-US"/>
          </a:p>
        </p:txBody>
      </p:sp>
    </p:spTree>
    <p:extLst>
      <p:ext uri="{BB962C8B-B14F-4D97-AF65-F5344CB8AC3E}">
        <p14:creationId xmlns:p14="http://schemas.microsoft.com/office/powerpoint/2010/main" val="1891669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9</a:t>
            </a:fld>
            <a:endParaRPr lang="zh-CN" altLang="en-US"/>
          </a:p>
        </p:txBody>
      </p:sp>
    </p:spTree>
    <p:extLst>
      <p:ext uri="{BB962C8B-B14F-4D97-AF65-F5344CB8AC3E}">
        <p14:creationId xmlns:p14="http://schemas.microsoft.com/office/powerpoint/2010/main" val="288831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400" b="1" dirty="0"/>
              <a:t>头波声速计算：</a:t>
            </a:r>
            <a:endParaRPr lang="en-US" altLang="zh-CN" sz="1400" b="1" dirty="0"/>
          </a:p>
          <a:p>
            <a:pPr marL="285750" indent="-285750">
              <a:lnSpc>
                <a:spcPct val="150000"/>
              </a:lnSpc>
              <a:buFont typeface="Arial" panose="020B0604020202020204" pitchFamily="34" charset="0"/>
              <a:buChar char="•"/>
            </a:pPr>
            <a:r>
              <a:rPr lang="zh-CN" altLang="en-US" dirty="0"/>
              <a:t>透射波信号第一个峰的</a:t>
            </a:r>
            <a:r>
              <a:rPr lang="en-US" altLang="zh-CN" dirty="0"/>
              <a:t>10%</a:t>
            </a:r>
            <a:r>
              <a:rPr lang="zh-CN" altLang="en-US" dirty="0"/>
              <a:t>所对应时间为头波到达时间，记作：</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t</a:t>
            </a:r>
          </a:p>
          <a:p>
            <a:pPr marL="285750" indent="-285750">
              <a:lnSpc>
                <a:spcPct val="150000"/>
              </a:lnSpc>
              <a:buFont typeface="Arial" panose="020B0604020202020204" pitchFamily="34" charset="0"/>
              <a:buChar char="•"/>
            </a:pPr>
            <a:r>
              <a:rPr lang="zh-CN" altLang="en-US" dirty="0"/>
              <a:t>样本厚度为</a:t>
            </a:r>
            <a:r>
              <a:rPr lang="en-US" altLang="zh-CN" i="1" dirty="0"/>
              <a:t>L</a:t>
            </a:r>
            <a:r>
              <a:rPr lang="zh-CN" altLang="en-US" dirty="0"/>
              <a:t>，头波声速</a:t>
            </a:r>
            <a:r>
              <a:rPr lang="en-US" altLang="zh-CN" i="1" dirty="0"/>
              <a:t>v</a:t>
            </a:r>
            <a:r>
              <a:rPr lang="en-US" altLang="zh-CN" dirty="0"/>
              <a:t>=</a:t>
            </a:r>
            <a:r>
              <a:rPr lang="en-US" altLang="zh-CN" i="1" dirty="0"/>
              <a:t>L</a:t>
            </a:r>
            <a:r>
              <a:rPr lang="en-US" altLang="zh-CN" dirty="0"/>
              <a:t>/</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10</a:t>
            </a:fld>
            <a:endParaRPr lang="zh-CN" altLang="en-US"/>
          </a:p>
        </p:txBody>
      </p:sp>
    </p:spTree>
    <p:extLst>
      <p:ext uri="{BB962C8B-B14F-4D97-AF65-F5344CB8AC3E}">
        <p14:creationId xmlns:p14="http://schemas.microsoft.com/office/powerpoint/2010/main" val="324859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11B33B-60B1-4CE3-BFF0-D61FB2EF77E0}" type="slidenum">
              <a:rPr lang="zh-CN" altLang="en-US" smtClean="0"/>
              <a:t>11</a:t>
            </a:fld>
            <a:endParaRPr lang="zh-CN" altLang="en-US"/>
          </a:p>
        </p:txBody>
      </p:sp>
    </p:spTree>
    <p:extLst>
      <p:ext uri="{BB962C8B-B14F-4D97-AF65-F5344CB8AC3E}">
        <p14:creationId xmlns:p14="http://schemas.microsoft.com/office/powerpoint/2010/main" val="2641171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auto" latinLnBrk="0" hangingPunct="1"/>
            <a:r>
              <a:rPr lang="zh-CN" altLang="zh-CN" sz="1200" b="0" i="0" u="none" strike="noStrike" kern="1200" dirty="0">
                <a:solidFill>
                  <a:schemeClr val="tx1"/>
                </a:solidFill>
                <a:effectLst/>
                <a:latin typeface="+mn-lt"/>
                <a:ea typeface="+mn-ea"/>
                <a:cs typeface="+mn-cs"/>
              </a:rPr>
              <a:t>头波的衰减主要有</a:t>
            </a:r>
            <a:r>
              <a:rPr lang="zh-CN" altLang="zh-CN" sz="1200" b="1" i="0" u="none" strike="noStrike" kern="1200" dirty="0">
                <a:solidFill>
                  <a:schemeClr val="tx1"/>
                </a:solidFill>
                <a:effectLst/>
                <a:latin typeface="+mn-lt"/>
                <a:ea typeface="+mn-ea"/>
                <a:cs typeface="+mn-cs"/>
              </a:rPr>
              <a:t>散射</a:t>
            </a:r>
            <a:r>
              <a:rPr lang="zh-CN" altLang="zh-CN" sz="1200" b="0" i="0" u="none" strike="noStrike" kern="1200" dirty="0">
                <a:solidFill>
                  <a:schemeClr val="tx1"/>
                </a:solidFill>
                <a:effectLst/>
                <a:latin typeface="+mn-lt"/>
                <a:ea typeface="+mn-ea"/>
                <a:cs typeface="+mn-cs"/>
              </a:rPr>
              <a:t>引起，由实验数据得到的头波衰减系数和基于不相干近似理论得到的理论估计值符合较好。</a:t>
            </a:r>
          </a:p>
          <a:p>
            <a:pPr rtl="0" eaLnBrk="1" fontAlgn="auto" latinLnBrk="0" hangingPunct="1"/>
            <a:r>
              <a:rPr lang="zh-CN" altLang="zh-CN" sz="1200" b="0" i="0" u="none" strike="noStrike" kern="1200" dirty="0">
                <a:solidFill>
                  <a:schemeClr val="tx1"/>
                </a:solidFill>
                <a:effectLst/>
                <a:latin typeface="+mn-lt"/>
                <a:ea typeface="+mn-ea"/>
                <a:cs typeface="+mn-cs"/>
              </a:rPr>
              <a:t>当散射体间</a:t>
            </a:r>
            <a:r>
              <a:rPr lang="zh-CN" altLang="zh-CN" sz="1200" b="1" i="0" u="none" strike="noStrike" kern="1200" dirty="0">
                <a:solidFill>
                  <a:schemeClr val="tx1"/>
                </a:solidFill>
                <a:effectLst/>
                <a:latin typeface="+mn-lt"/>
                <a:ea typeface="+mn-ea"/>
                <a:cs typeface="+mn-cs"/>
              </a:rPr>
              <a:t>非接触</a:t>
            </a:r>
            <a:r>
              <a:rPr lang="zh-CN" altLang="zh-CN" sz="1200" b="0" i="0" u="none" strike="noStrike" kern="1200" dirty="0">
                <a:solidFill>
                  <a:schemeClr val="tx1"/>
                </a:solidFill>
                <a:effectLst/>
                <a:latin typeface="+mn-lt"/>
                <a:ea typeface="+mn-ea"/>
                <a:cs typeface="+mn-cs"/>
              </a:rPr>
              <a:t>时，头波声速可由</a:t>
            </a:r>
            <a:r>
              <a:rPr lang="en-US" altLang="zh-CN" sz="1200" b="0" i="0" u="none" strike="noStrike" kern="1200" dirty="0">
                <a:solidFill>
                  <a:schemeClr val="tx1"/>
                </a:solidFill>
                <a:effectLst/>
                <a:latin typeface="+mn-lt"/>
                <a:ea typeface="+mn-ea"/>
                <a:cs typeface="+mn-cs"/>
              </a:rPr>
              <a:t>Wood</a:t>
            </a:r>
            <a:r>
              <a:rPr lang="zh-CN" altLang="zh-CN" sz="1200" b="0" i="0" u="none" strike="noStrike" kern="1200" dirty="0">
                <a:solidFill>
                  <a:schemeClr val="tx1"/>
                </a:solidFill>
                <a:effectLst/>
                <a:latin typeface="+mn-lt"/>
                <a:ea typeface="+mn-ea"/>
                <a:cs typeface="+mn-cs"/>
              </a:rPr>
              <a:t>方程近似得到；当散射体间相互</a:t>
            </a:r>
            <a:r>
              <a:rPr lang="zh-CN" altLang="zh-CN" sz="1200" b="1" i="0" u="none" strike="noStrike" kern="1200" dirty="0">
                <a:solidFill>
                  <a:schemeClr val="tx1"/>
                </a:solidFill>
                <a:effectLst/>
                <a:latin typeface="+mn-lt"/>
                <a:ea typeface="+mn-ea"/>
                <a:cs typeface="+mn-cs"/>
              </a:rPr>
              <a:t>接触</a:t>
            </a:r>
            <a:r>
              <a:rPr lang="zh-CN" altLang="zh-CN" sz="1200" b="0" i="0" u="none" strike="noStrike" kern="1200" dirty="0">
                <a:solidFill>
                  <a:schemeClr val="tx1"/>
                </a:solidFill>
                <a:effectLst/>
                <a:latin typeface="+mn-lt"/>
                <a:ea typeface="+mn-ea"/>
                <a:cs typeface="+mn-cs"/>
              </a:rPr>
              <a:t>时，声波主要在固体间传播，</a:t>
            </a:r>
            <a:r>
              <a:rPr lang="en-US" altLang="zh-CN" sz="1200" b="0" i="0" u="none" strike="noStrike" kern="1200" dirty="0">
                <a:solidFill>
                  <a:schemeClr val="tx1"/>
                </a:solidFill>
                <a:effectLst/>
                <a:latin typeface="+mn-lt"/>
                <a:ea typeface="+mn-ea"/>
                <a:cs typeface="+mn-cs"/>
              </a:rPr>
              <a:t>Wood</a:t>
            </a:r>
            <a:r>
              <a:rPr lang="zh-CN" altLang="zh-CN" sz="1200" b="0" i="0" u="none" strike="noStrike" kern="1200" dirty="0">
                <a:solidFill>
                  <a:schemeClr val="tx1"/>
                </a:solidFill>
                <a:effectLst/>
                <a:latin typeface="+mn-lt"/>
                <a:ea typeface="+mn-ea"/>
                <a:cs typeface="+mn-cs"/>
              </a:rPr>
              <a:t>方程不能描述其头波声速。</a:t>
            </a:r>
          </a:p>
          <a:p>
            <a:pPr rtl="0" eaLnBrk="1" fontAlgn="auto" latinLnBrk="0" hangingPunct="1"/>
            <a:r>
              <a:rPr lang="zh-CN" altLang="zh-CN" sz="1200" b="0" i="0" u="none" strike="noStrike" kern="1200" dirty="0">
                <a:solidFill>
                  <a:schemeClr val="tx1"/>
                </a:solidFill>
                <a:effectLst/>
                <a:latin typeface="+mn-lt"/>
                <a:ea typeface="+mn-ea"/>
                <a:cs typeface="+mn-cs"/>
              </a:rPr>
              <a:t>当散射体堆厚度较大时（</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&gt;3</a:t>
            </a:r>
            <a:r>
              <a:rPr lang="zh-CN" altLang="zh-CN" sz="1200" b="0" i="0" u="none" strike="noStrike" kern="1200" dirty="0">
                <a:solidFill>
                  <a:schemeClr val="tx1"/>
                </a:solidFill>
                <a:effectLst/>
                <a:latin typeface="+mn-lt"/>
                <a:ea typeface="+mn-ea"/>
                <a:cs typeface="+mn-cs"/>
              </a:rPr>
              <a:t>），平均声强可由</a:t>
            </a:r>
            <a:r>
              <a:rPr lang="zh-CN" altLang="zh-CN" sz="1200" b="1" i="0" u="none" strike="noStrike" kern="1200" dirty="0">
                <a:solidFill>
                  <a:schemeClr val="tx1"/>
                </a:solidFill>
                <a:effectLst/>
                <a:latin typeface="+mn-lt"/>
                <a:ea typeface="+mn-ea"/>
                <a:cs typeface="+mn-cs"/>
              </a:rPr>
              <a:t>扩散方程</a:t>
            </a:r>
            <a:r>
              <a:rPr lang="zh-CN" altLang="zh-CN" sz="1200" b="0" i="0" u="none" strike="noStrike" kern="1200" dirty="0">
                <a:solidFill>
                  <a:schemeClr val="tx1"/>
                </a:solidFill>
                <a:effectLst/>
                <a:latin typeface="+mn-lt"/>
                <a:ea typeface="+mn-ea"/>
                <a:cs typeface="+mn-cs"/>
              </a:rPr>
              <a:t>较好拟合；当散射体堆厚度较小时（</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&lt;3</a:t>
            </a:r>
            <a:r>
              <a:rPr lang="zh-CN" altLang="zh-CN" sz="1200" b="0" i="0" u="none" strike="noStrike" kern="1200" dirty="0">
                <a:solidFill>
                  <a:schemeClr val="tx1"/>
                </a:solidFill>
                <a:effectLst/>
                <a:latin typeface="+mn-lt"/>
                <a:ea typeface="+mn-ea"/>
                <a:cs typeface="+mn-cs"/>
              </a:rPr>
              <a:t>），可用</a:t>
            </a:r>
            <a:r>
              <a:rPr lang="en-US" altLang="zh-CN" sz="1200" b="1" i="0" u="none" strike="noStrike" kern="1200" dirty="0">
                <a:solidFill>
                  <a:schemeClr val="tx1"/>
                </a:solidFill>
                <a:effectLst/>
                <a:latin typeface="+mn-lt"/>
                <a:ea typeface="+mn-ea"/>
                <a:cs typeface="+mn-cs"/>
              </a:rPr>
              <a:t>RTE</a:t>
            </a:r>
            <a:r>
              <a:rPr lang="zh-CN" altLang="zh-CN" sz="1200" b="1" i="0" u="none" strike="noStrike" kern="1200" dirty="0">
                <a:solidFill>
                  <a:schemeClr val="tx1"/>
                </a:solidFill>
                <a:effectLst/>
                <a:latin typeface="+mn-lt"/>
                <a:ea typeface="+mn-ea"/>
                <a:cs typeface="+mn-cs"/>
              </a:rPr>
              <a:t>方程</a:t>
            </a:r>
            <a:r>
              <a:rPr lang="zh-CN" altLang="zh-CN" sz="1200" b="0" i="0" u="none" strike="noStrike" kern="1200" dirty="0">
                <a:solidFill>
                  <a:schemeClr val="tx1"/>
                </a:solidFill>
                <a:effectLst/>
                <a:latin typeface="+mn-lt"/>
                <a:ea typeface="+mn-ea"/>
                <a:cs typeface="+mn-cs"/>
              </a:rPr>
              <a:t>对平均声强拟合。</a:t>
            </a:r>
          </a:p>
          <a:p>
            <a:pPr rtl="0" eaLnBrk="1" fontAlgn="auto" latinLnBrk="0" hangingPunct="1"/>
            <a:r>
              <a:rPr lang="zh-CN" altLang="zh-CN" sz="1200" b="0" i="0" u="none" strike="noStrike" kern="1200" dirty="0">
                <a:solidFill>
                  <a:schemeClr val="tx1"/>
                </a:solidFill>
                <a:effectLst/>
                <a:latin typeface="+mn-lt"/>
                <a:ea typeface="+mn-ea"/>
                <a:cs typeface="+mn-cs"/>
              </a:rPr>
              <a:t>对于多重散射的透射波，其平均声强由</a:t>
            </a:r>
            <a:r>
              <a:rPr lang="zh-CN" altLang="zh-CN" sz="1200" b="1" i="0" u="none" strike="noStrike" kern="1200" dirty="0">
                <a:solidFill>
                  <a:schemeClr val="tx1"/>
                </a:solidFill>
                <a:effectLst/>
                <a:latin typeface="+mn-lt"/>
                <a:ea typeface="+mn-ea"/>
                <a:cs typeface="+mn-cs"/>
              </a:rPr>
              <a:t>弹道特性</a:t>
            </a:r>
            <a:r>
              <a:rPr lang="zh-CN" altLang="zh-CN" sz="1200" b="0" i="0" u="none" strike="noStrike" kern="1200" dirty="0">
                <a:solidFill>
                  <a:schemeClr val="tx1"/>
                </a:solidFill>
                <a:effectLst/>
                <a:latin typeface="+mn-lt"/>
                <a:ea typeface="+mn-ea"/>
                <a:cs typeface="+mn-cs"/>
              </a:rPr>
              <a:t>转移为</a:t>
            </a:r>
            <a:r>
              <a:rPr lang="zh-CN" altLang="zh-CN" sz="1200" b="1" i="0" u="none" strike="noStrike" kern="1200" dirty="0">
                <a:solidFill>
                  <a:schemeClr val="tx1"/>
                </a:solidFill>
                <a:effectLst/>
                <a:latin typeface="+mn-lt"/>
                <a:ea typeface="+mn-ea"/>
                <a:cs typeface="+mn-cs"/>
              </a:rPr>
              <a:t>扩散特性</a:t>
            </a:r>
            <a:r>
              <a:rPr lang="zh-CN" altLang="zh-CN" sz="1200" b="0" i="0" u="none" strike="noStrike" kern="1200" dirty="0">
                <a:solidFill>
                  <a:schemeClr val="tx1"/>
                </a:solidFill>
                <a:effectLst/>
                <a:latin typeface="+mn-lt"/>
                <a:ea typeface="+mn-ea"/>
                <a:cs typeface="+mn-cs"/>
              </a:rPr>
              <a:t>的临界值在</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a:t>
            </a:r>
            <a:r>
              <a:rPr lang="en-US" altLang="zh-CN" sz="1200" b="0" i="1" u="none" strike="noStrike" kern="1200" dirty="0">
                <a:solidFill>
                  <a:schemeClr val="tx1"/>
                </a:solidFill>
                <a:effectLst/>
                <a:latin typeface="+mn-lt"/>
                <a:ea typeface="+mn-ea"/>
                <a:cs typeface="+mn-cs"/>
              </a:rPr>
              <a:t>l</a:t>
            </a:r>
            <a:r>
              <a:rPr lang="en-US" altLang="zh-CN" sz="1200" b="0" i="0" u="none" strike="noStrike" kern="1200" dirty="0">
                <a:solidFill>
                  <a:schemeClr val="tx1"/>
                </a:solidFill>
                <a:effectLst/>
                <a:latin typeface="+mn-lt"/>
                <a:ea typeface="+mn-ea"/>
                <a:cs typeface="+mn-cs"/>
              </a:rPr>
              <a:t>=3</a:t>
            </a:r>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1" i="0" u="none" strike="noStrike" kern="1200" dirty="0">
                <a:solidFill>
                  <a:schemeClr val="tx1"/>
                </a:solidFill>
                <a:effectLst/>
                <a:latin typeface="+mn-lt"/>
                <a:ea typeface="+mn-ea"/>
                <a:cs typeface="+mn-cs"/>
              </a:rPr>
              <a:t>有限元仿真</a:t>
            </a:r>
            <a:r>
              <a:rPr lang="zh-CN" altLang="zh-CN" sz="1200" b="0" i="0" u="none" strike="noStrike" kern="1200" dirty="0">
                <a:solidFill>
                  <a:schemeClr val="tx1"/>
                </a:solidFill>
                <a:effectLst/>
                <a:latin typeface="+mn-lt"/>
                <a:ea typeface="+mn-ea"/>
                <a:cs typeface="+mn-cs"/>
              </a:rPr>
              <a:t>在研究多种散射问题是</a:t>
            </a:r>
            <a:r>
              <a:rPr lang="zh-CN" altLang="zh-CN" sz="1200" b="1" i="0" u="none" strike="noStrike" kern="1200" dirty="0">
                <a:solidFill>
                  <a:schemeClr val="tx1"/>
                </a:solidFill>
                <a:effectLst/>
                <a:latin typeface="+mn-lt"/>
                <a:ea typeface="+mn-ea"/>
                <a:cs typeface="+mn-cs"/>
              </a:rPr>
              <a:t>有效的</a:t>
            </a:r>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进一步研究</a:t>
            </a:r>
          </a:p>
          <a:p>
            <a:pPr rtl="0" eaLnBrk="1" fontAlgn="auto" latinLnBrk="0" hangingPunct="1"/>
            <a:r>
              <a:rPr lang="zh-CN" altLang="zh-CN" sz="1200" b="0" i="0" u="none" strike="noStrike" kern="1200" dirty="0">
                <a:solidFill>
                  <a:schemeClr val="tx1"/>
                </a:solidFill>
                <a:effectLst/>
                <a:latin typeface="+mn-lt"/>
                <a:ea typeface="+mn-ea"/>
                <a:cs typeface="+mn-cs"/>
              </a:rPr>
              <a:t>有限元仿真具有便捷地改变实验参数、分析任意位置、时间的超声响应等优势。</a:t>
            </a:r>
          </a:p>
          <a:p>
            <a:pPr rtl="0" eaLnBrk="1" fontAlgn="auto" latinLnBrk="0" hangingPunct="1"/>
            <a:r>
              <a:rPr lang="en-US" altLang="zh-CN" sz="1200" b="0" i="0" u="none" strike="noStrike" kern="1200" dirty="0">
                <a:solidFill>
                  <a:schemeClr val="tx1"/>
                </a:solidFill>
                <a:effectLst/>
                <a:latin typeface="+mn-lt"/>
                <a:ea typeface="+mn-ea"/>
                <a:cs typeface="+mn-cs"/>
              </a:rPr>
              <a:t>     </a:t>
            </a:r>
            <a:r>
              <a:rPr lang="zh-CN" altLang="zh-CN" sz="1200" b="0" i="0" u="none" strike="noStrike" kern="1200" dirty="0">
                <a:solidFill>
                  <a:schemeClr val="tx1"/>
                </a:solidFill>
                <a:effectLst/>
                <a:latin typeface="+mn-lt"/>
                <a:ea typeface="+mn-ea"/>
                <a:cs typeface="+mn-cs"/>
              </a:rPr>
              <a:t>后续工作可利用有限元方法研究更</a:t>
            </a:r>
            <a:r>
              <a:rPr lang="zh-CN" altLang="zh-CN" sz="1200" b="1" i="0" u="none" strike="noStrike" kern="1200" dirty="0">
                <a:solidFill>
                  <a:schemeClr val="tx1"/>
                </a:solidFill>
                <a:effectLst/>
                <a:latin typeface="+mn-lt"/>
                <a:ea typeface="+mn-ea"/>
                <a:cs typeface="+mn-cs"/>
              </a:rPr>
              <a:t>高维度</a:t>
            </a:r>
            <a:r>
              <a:rPr lang="zh-CN" altLang="zh-CN" sz="1200" b="0" i="0" u="none" strike="noStrike" kern="1200" dirty="0">
                <a:solidFill>
                  <a:schemeClr val="tx1"/>
                </a:solidFill>
                <a:effectLst/>
                <a:latin typeface="+mn-lt"/>
                <a:ea typeface="+mn-ea"/>
                <a:cs typeface="+mn-cs"/>
              </a:rPr>
              <a:t>模型（如三维模型）、</a:t>
            </a:r>
            <a:r>
              <a:rPr lang="zh-CN" altLang="zh-CN" sz="1200" b="1" i="0" u="none" strike="noStrike" kern="1200" dirty="0">
                <a:solidFill>
                  <a:schemeClr val="tx1"/>
                </a:solidFill>
                <a:effectLst/>
                <a:latin typeface="+mn-lt"/>
                <a:ea typeface="+mn-ea"/>
                <a:cs typeface="+mn-cs"/>
              </a:rPr>
              <a:t>干燥</a:t>
            </a:r>
            <a:r>
              <a:rPr lang="zh-CN" altLang="zh-CN" sz="1200" b="0" i="0" u="none" strike="noStrike" kern="1200" dirty="0">
                <a:solidFill>
                  <a:schemeClr val="tx1"/>
                </a:solidFill>
                <a:effectLst/>
                <a:latin typeface="+mn-lt"/>
                <a:ea typeface="+mn-ea"/>
                <a:cs typeface="+mn-cs"/>
              </a:rPr>
              <a:t>模型（无水）、</a:t>
            </a:r>
            <a:r>
              <a:rPr lang="zh-CN" altLang="zh-CN" sz="1200" b="1" i="0" u="none" strike="noStrike" kern="1200" dirty="0">
                <a:solidFill>
                  <a:schemeClr val="tx1"/>
                </a:solidFill>
                <a:effectLst/>
                <a:latin typeface="+mn-lt"/>
                <a:ea typeface="+mn-ea"/>
                <a:cs typeface="+mn-cs"/>
              </a:rPr>
              <a:t>弱散射介质</a:t>
            </a:r>
            <a:r>
              <a:rPr lang="zh-CN" altLang="zh-CN" sz="1200" b="0" i="0" u="none" strike="noStrike" kern="1200" dirty="0">
                <a:solidFill>
                  <a:schemeClr val="tx1"/>
                </a:solidFill>
                <a:effectLst/>
                <a:latin typeface="+mn-lt"/>
                <a:ea typeface="+mn-ea"/>
                <a:cs typeface="+mn-cs"/>
              </a:rPr>
              <a:t>（激励信号波长远大于散射体尺寸）等多重散射问题。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011B33B-60B1-4CE3-BFF0-D61FB2EF77E0}" type="slidenum">
              <a:rPr lang="zh-CN" altLang="en-US" smtClean="0"/>
              <a:t>12</a:t>
            </a:fld>
            <a:endParaRPr lang="zh-CN" altLang="en-US"/>
          </a:p>
        </p:txBody>
      </p:sp>
    </p:spTree>
    <p:extLst>
      <p:ext uri="{BB962C8B-B14F-4D97-AF65-F5344CB8AC3E}">
        <p14:creationId xmlns:p14="http://schemas.microsoft.com/office/powerpoint/2010/main" val="2574585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11B33B-60B1-4CE3-BFF0-D61FB2EF77E0}" type="slidenum">
              <a:rPr lang="zh-CN" altLang="en-US" smtClean="0"/>
              <a:t>13</a:t>
            </a:fld>
            <a:endParaRPr lang="zh-CN" altLang="en-US"/>
          </a:p>
        </p:txBody>
      </p:sp>
    </p:spTree>
    <p:extLst>
      <p:ext uri="{BB962C8B-B14F-4D97-AF65-F5344CB8AC3E}">
        <p14:creationId xmlns:p14="http://schemas.microsoft.com/office/powerpoint/2010/main" val="2090796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11B33B-60B1-4CE3-BFF0-D61FB2EF77E0}" type="slidenum">
              <a:rPr lang="zh-CN" altLang="en-US" smtClean="0"/>
              <a:t>14</a:t>
            </a:fld>
            <a:endParaRPr lang="zh-CN" altLang="en-US"/>
          </a:p>
        </p:txBody>
      </p:sp>
    </p:spTree>
    <p:extLst>
      <p:ext uri="{BB962C8B-B14F-4D97-AF65-F5344CB8AC3E}">
        <p14:creationId xmlns:p14="http://schemas.microsoft.com/office/powerpoint/2010/main" val="186688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2160337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
        <p:nvSpPr>
          <p:cNvPr id="7" name="矩形 6"/>
          <p:cNvSpPr/>
          <p:nvPr userDrawn="1"/>
        </p:nvSpPr>
        <p:spPr>
          <a:xfrm>
            <a:off x="0" y="0"/>
            <a:ext cx="12192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13A3773E-F795-4753-8FDB-08AC33B5B4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Tree>
    <p:extLst>
      <p:ext uri="{BB962C8B-B14F-4D97-AF65-F5344CB8AC3E}">
        <p14:creationId xmlns:p14="http://schemas.microsoft.com/office/powerpoint/2010/main" val="1282510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
        <p:nvSpPr>
          <p:cNvPr id="7" name="矩形 6"/>
          <p:cNvSpPr/>
          <p:nvPr userDrawn="1"/>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13A3773E-F795-4753-8FDB-08AC33B5B4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15" name="矩形 14"/>
          <p:cNvSpPr/>
          <p:nvPr userDrawn="1"/>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365125" y="115887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课题综述</a:t>
            </a:r>
          </a:p>
        </p:txBody>
      </p:sp>
      <p:sp>
        <p:nvSpPr>
          <p:cNvPr id="19" name="矩形 18"/>
          <p:cNvSpPr/>
          <p:nvPr userDrawn="1"/>
        </p:nvSpPr>
        <p:spPr>
          <a:xfrm>
            <a:off x="365125" y="1936113"/>
            <a:ext cx="1231900" cy="432000"/>
          </a:xfrm>
          <a:prstGeom prst="rect">
            <a:avLst/>
          </a:prstGeom>
          <a:solidFill>
            <a:srgbClr val="6404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365125" y="2713353"/>
            <a:ext cx="1231900" cy="432000"/>
          </a:xfrm>
          <a:prstGeom prst="rect">
            <a:avLst/>
          </a:prstGeom>
          <a:solidFill>
            <a:srgbClr val="6404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365125" y="3490593"/>
            <a:ext cx="1231900" cy="432000"/>
          </a:xfrm>
          <a:prstGeom prst="rect">
            <a:avLst/>
          </a:prstGeom>
          <a:solidFill>
            <a:srgbClr val="6404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userDrawn="1"/>
        </p:nvSpPr>
        <p:spPr>
          <a:xfrm>
            <a:off x="365125" y="4267833"/>
            <a:ext cx="1231900" cy="432000"/>
          </a:xfrm>
          <a:prstGeom prst="rect">
            <a:avLst/>
          </a:prstGeom>
          <a:solidFill>
            <a:srgbClr val="6404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365125" y="5045073"/>
            <a:ext cx="1231900" cy="432000"/>
          </a:xfrm>
          <a:prstGeom prst="rect">
            <a:avLst/>
          </a:prstGeom>
          <a:solidFill>
            <a:srgbClr val="6404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50726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
        <p:nvSpPr>
          <p:cNvPr id="8" name="矩形 7"/>
          <p:cNvSpPr/>
          <p:nvPr userDrawn="1"/>
        </p:nvSpPr>
        <p:spPr>
          <a:xfrm>
            <a:off x="0" y="1799771"/>
            <a:ext cx="4310743" cy="1669143"/>
          </a:xfrm>
          <a:prstGeom prst="rect">
            <a:avLst/>
          </a:prstGeom>
          <a:solidFill>
            <a:srgbClr val="71056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4441371" y="1799771"/>
            <a:ext cx="377372" cy="1669143"/>
          </a:xfrm>
          <a:prstGeom prst="rect">
            <a:avLst/>
          </a:prstGeom>
          <a:solidFill>
            <a:srgbClr val="71056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5080000" y="4542971"/>
            <a:ext cx="7112000" cy="275772"/>
          </a:xfrm>
          <a:prstGeom prst="rect">
            <a:avLst/>
          </a:prstGeom>
          <a:solidFill>
            <a:srgbClr val="71056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7917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4197427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16624544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28303255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349208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6973466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38747690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2352190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1585317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15FC0-17FC-4E2B-A084-E2772EC30194}" type="datetimeFigureOut">
              <a:rPr lang="zh-CN" altLang="en-US" smtClean="0"/>
              <a:t>2021/6/8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6A9FC-0791-409F-9950-5B74E8D9E2CB}" type="slidenum">
              <a:rPr lang="zh-CN" altLang="en-US" smtClean="0"/>
              <a:t>‹#›</a:t>
            </a:fld>
            <a:endParaRPr lang="zh-CN" altLang="en-US"/>
          </a:p>
        </p:txBody>
      </p:sp>
    </p:spTree>
    <p:extLst>
      <p:ext uri="{BB962C8B-B14F-4D97-AF65-F5344CB8AC3E}">
        <p14:creationId xmlns:p14="http://schemas.microsoft.com/office/powerpoint/2010/main" val="10058780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5"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8000"/>
            <a:lum/>
          </a:blip>
          <a:srcRect/>
          <a:stretch>
            <a:fillRect t="-8000" b="-8000"/>
          </a:stretch>
        </a:blipFill>
        <a:effectLst/>
      </p:bgPr>
    </p:bg>
    <p:spTree>
      <p:nvGrpSpPr>
        <p:cNvPr id="1" name=""/>
        <p:cNvGrpSpPr/>
        <p:nvPr/>
      </p:nvGrpSpPr>
      <p:grpSpPr>
        <a:xfrm>
          <a:off x="0" y="0"/>
          <a:ext cx="0" cy="0"/>
          <a:chOff x="0" y="0"/>
          <a:chExt cx="0" cy="0"/>
        </a:xfrm>
      </p:grpSpPr>
      <p:grpSp>
        <p:nvGrpSpPr>
          <p:cNvPr id="17" name="组合 16"/>
          <p:cNvGrpSpPr/>
          <p:nvPr/>
        </p:nvGrpSpPr>
        <p:grpSpPr>
          <a:xfrm>
            <a:off x="0" y="2106394"/>
            <a:ext cx="12192000" cy="2533846"/>
            <a:chOff x="0" y="2019300"/>
            <a:chExt cx="12192000" cy="2533846"/>
          </a:xfrm>
        </p:grpSpPr>
        <p:sp>
          <p:nvSpPr>
            <p:cNvPr id="9" name="矩形 8"/>
            <p:cNvSpPr/>
            <p:nvPr/>
          </p:nvSpPr>
          <p:spPr>
            <a:xfrm>
              <a:off x="0" y="2019300"/>
              <a:ext cx="12192000" cy="2533846"/>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文本框 9"/>
            <p:cNvSpPr txBox="1"/>
            <p:nvPr/>
          </p:nvSpPr>
          <p:spPr>
            <a:xfrm>
              <a:off x="1815632" y="2363809"/>
              <a:ext cx="8808826" cy="1323439"/>
            </a:xfrm>
            <a:prstGeom prst="rect">
              <a:avLst/>
            </a:prstGeom>
            <a:noFill/>
          </p:spPr>
          <p:txBody>
            <a:bodyPr wrap="square" rtlCol="0">
              <a:spAutoFit/>
            </a:bodyPr>
            <a:lstStyle/>
            <a:p>
              <a:pPr algn="ctr"/>
              <a:r>
                <a:rPr lang="zh-CN" altLang="en-US" sz="4000" b="1" dirty="0">
                  <a:solidFill>
                    <a:schemeClr val="bg1"/>
                  </a:solidFill>
                  <a:cs typeface="+mn-ea"/>
                  <a:sym typeface="+mn-lt"/>
                </a:rPr>
                <a:t>题目</a:t>
              </a:r>
              <a:endParaRPr lang="en-US" altLang="zh-CN" sz="4000" b="1" dirty="0">
                <a:solidFill>
                  <a:schemeClr val="bg1"/>
                </a:solidFill>
                <a:cs typeface="+mn-ea"/>
                <a:sym typeface="+mn-lt"/>
              </a:endParaRPr>
            </a:p>
            <a:p>
              <a:pPr algn="r"/>
              <a:r>
                <a:rPr lang="en-US" altLang="zh-CN" sz="4000" b="1" dirty="0">
                  <a:solidFill>
                    <a:schemeClr val="bg1"/>
                  </a:solidFill>
                  <a:cs typeface="+mn-ea"/>
                  <a:sym typeface="+mn-lt"/>
                </a:rPr>
                <a:t>——</a:t>
              </a:r>
              <a:r>
                <a:rPr lang="zh-CN" altLang="en-US" sz="4000" b="1" dirty="0">
                  <a:solidFill>
                    <a:schemeClr val="bg1"/>
                  </a:solidFill>
                  <a:cs typeface="+mn-ea"/>
                  <a:sym typeface="+mn-lt"/>
                </a:rPr>
                <a:t>硕士论文答辩</a:t>
              </a:r>
            </a:p>
          </p:txBody>
        </p:sp>
        <p:sp>
          <p:nvSpPr>
            <p:cNvPr id="13" name="矩形 12"/>
            <p:cNvSpPr/>
            <p:nvPr/>
          </p:nvSpPr>
          <p:spPr>
            <a:xfrm>
              <a:off x="2227363" y="4031757"/>
              <a:ext cx="1210588" cy="400110"/>
            </a:xfrm>
            <a:prstGeom prst="rect">
              <a:avLst/>
            </a:prstGeom>
          </p:spPr>
          <p:txBody>
            <a:bodyPr wrap="none">
              <a:spAutoFit/>
            </a:bodyPr>
            <a:lstStyle/>
            <a:p>
              <a:r>
                <a:rPr lang="zh-CN" altLang="en-US" sz="2000" dirty="0">
                  <a:solidFill>
                    <a:schemeClr val="bg1"/>
                  </a:solidFill>
                  <a:cs typeface="+mn-ea"/>
                  <a:sym typeface="+mn-lt"/>
                </a:rPr>
                <a:t>答辩人：</a:t>
              </a:r>
              <a:endParaRPr lang="zh-CN" altLang="en-US" sz="2000" dirty="0">
                <a:cs typeface="+mn-ea"/>
                <a:sym typeface="+mn-lt"/>
              </a:endParaRPr>
            </a:p>
          </p:txBody>
        </p:sp>
        <p:sp>
          <p:nvSpPr>
            <p:cNvPr id="11" name="文本框 10"/>
            <p:cNvSpPr txBox="1"/>
            <p:nvPr/>
          </p:nvSpPr>
          <p:spPr>
            <a:xfrm>
              <a:off x="7377465" y="4031757"/>
              <a:ext cx="1467068" cy="400110"/>
            </a:xfrm>
            <a:prstGeom prst="rect">
              <a:avLst/>
            </a:prstGeom>
            <a:noFill/>
          </p:spPr>
          <p:txBody>
            <a:bodyPr wrap="none" rtlCol="0">
              <a:spAutoFit/>
            </a:bodyPr>
            <a:lstStyle/>
            <a:p>
              <a:r>
                <a:rPr lang="zh-CN" altLang="en-US" sz="2000" dirty="0">
                  <a:solidFill>
                    <a:schemeClr val="bg1"/>
                  </a:solidFill>
                  <a:cs typeface="+mn-ea"/>
                  <a:sym typeface="+mn-lt"/>
                </a:rPr>
                <a:t>指导老师：</a:t>
              </a:r>
            </a:p>
          </p:txBody>
        </p:sp>
      </p:grpSp>
      <p:sp>
        <p:nvSpPr>
          <p:cNvPr id="20" name="文本框 19"/>
          <p:cNvSpPr txBox="1"/>
          <p:nvPr/>
        </p:nvSpPr>
        <p:spPr>
          <a:xfrm>
            <a:off x="4553146" y="4118851"/>
            <a:ext cx="1018227" cy="400110"/>
          </a:xfrm>
          <a:prstGeom prst="rect">
            <a:avLst/>
          </a:prstGeom>
          <a:noFill/>
        </p:spPr>
        <p:txBody>
          <a:bodyPr wrap="none" rtlCol="0">
            <a:spAutoFit/>
          </a:bodyPr>
          <a:lstStyle/>
          <a:p>
            <a:r>
              <a:rPr lang="zh-CN" altLang="en-US" sz="2000" dirty="0">
                <a:solidFill>
                  <a:schemeClr val="bg1"/>
                </a:solidFill>
                <a:cs typeface="+mn-ea"/>
                <a:sym typeface="+mn-lt"/>
              </a:rPr>
              <a:t> 学号：</a:t>
            </a:r>
            <a:endParaRPr lang="zh-CN" altLang="en-US" sz="2000" dirty="0">
              <a:cs typeface="+mn-ea"/>
              <a:sym typeface="+mn-lt"/>
            </a:endParaRPr>
          </a:p>
        </p:txBody>
      </p:sp>
      <p:pic>
        <p:nvPicPr>
          <p:cNvPr id="21" name="!!南京大学">
            <a:extLst>
              <a:ext uri="{FF2B5EF4-FFF2-40B4-BE49-F238E27FC236}">
                <a16:creationId xmlns:a16="http://schemas.microsoft.com/office/drawing/2014/main" id="{8CF8DB78-D81D-4BF3-9D79-8F636F5ACB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079" y="128056"/>
            <a:ext cx="2158175" cy="1050885"/>
          </a:xfrm>
          <a:prstGeom prst="rect">
            <a:avLst/>
          </a:prstGeom>
          <a:noFill/>
          <a:effectLst>
            <a:outerShdw blurRad="63500" sx="102000" sy="102000" algn="ctr" rotWithShape="0">
              <a:schemeClr val="bg1">
                <a:alpha val="40000"/>
              </a:schemeClr>
            </a:outerShdw>
          </a:effectLst>
        </p:spPr>
      </p:pic>
    </p:spTree>
    <p:extLst>
      <p:ext uri="{BB962C8B-B14F-4D97-AF65-F5344CB8AC3E}">
        <p14:creationId xmlns:p14="http://schemas.microsoft.com/office/powerpoint/2010/main" val="1253713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67000" y="1996132"/>
            <a:ext cx="1239442" cy="707886"/>
          </a:xfrm>
          <a:prstGeom prst="rect">
            <a:avLst/>
          </a:prstGeom>
          <a:noFill/>
        </p:spPr>
        <p:txBody>
          <a:bodyPr wrap="none" rtlCol="0">
            <a:spAutoFit/>
          </a:bodyPr>
          <a:lstStyle/>
          <a:p>
            <a:r>
              <a:rPr lang="zh-CN" altLang="en-US" sz="4000" b="1" dirty="0">
                <a:solidFill>
                  <a:srgbClr val="640460"/>
                </a:solidFill>
                <a:cs typeface="+mn-ea"/>
                <a:sym typeface="+mn-lt"/>
              </a:rPr>
              <a:t>目录</a:t>
            </a:r>
          </a:p>
        </p:txBody>
      </p:sp>
      <p:sp>
        <p:nvSpPr>
          <p:cNvPr id="5" name="文本框 4"/>
          <p:cNvSpPr txBox="1"/>
          <p:nvPr/>
        </p:nvSpPr>
        <p:spPr>
          <a:xfrm>
            <a:off x="241300" y="2514600"/>
            <a:ext cx="3344762" cy="769441"/>
          </a:xfrm>
          <a:prstGeom prst="rect">
            <a:avLst/>
          </a:prstGeom>
          <a:noFill/>
        </p:spPr>
        <p:txBody>
          <a:bodyPr wrap="none" rtlCol="0">
            <a:spAutoFit/>
          </a:bodyPr>
          <a:lstStyle/>
          <a:p>
            <a:r>
              <a:rPr lang="en-US" altLang="zh-CN" sz="4400" b="1" dirty="0">
                <a:solidFill>
                  <a:schemeClr val="bg2">
                    <a:lumMod val="75000"/>
                  </a:schemeClr>
                </a:solidFill>
                <a:cs typeface="+mn-ea"/>
                <a:sym typeface="+mn-lt"/>
              </a:rPr>
              <a:t>CONTENTS</a:t>
            </a:r>
            <a:endParaRPr lang="zh-CN" altLang="en-US" sz="4400" b="1" dirty="0">
              <a:solidFill>
                <a:schemeClr val="bg2">
                  <a:lumMod val="75000"/>
                </a:schemeClr>
              </a:solidFill>
              <a:cs typeface="+mn-ea"/>
              <a:sym typeface="+mn-lt"/>
            </a:endParaRPr>
          </a:p>
        </p:txBody>
      </p:sp>
      <p:cxnSp>
        <p:nvCxnSpPr>
          <p:cNvPr id="7" name="直接连接符 6"/>
          <p:cNvCxnSpPr/>
          <p:nvPr/>
        </p:nvCxnSpPr>
        <p:spPr>
          <a:xfrm>
            <a:off x="4406900" y="2159000"/>
            <a:ext cx="0" cy="237490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4752680" y="2180798"/>
            <a:ext cx="2282676" cy="711200"/>
            <a:chOff x="4752680" y="3095198"/>
            <a:chExt cx="2282676" cy="711200"/>
          </a:xfrm>
        </p:grpSpPr>
        <p:grpSp>
          <p:nvGrpSpPr>
            <p:cNvPr id="15" name="组合 14"/>
            <p:cNvGrpSpPr/>
            <p:nvPr/>
          </p:nvGrpSpPr>
          <p:grpSpPr>
            <a:xfrm>
              <a:off x="4752680" y="3098512"/>
              <a:ext cx="525375" cy="707886"/>
              <a:chOff x="4752680" y="3098512"/>
              <a:chExt cx="525375" cy="707886"/>
            </a:xfrm>
          </p:grpSpPr>
          <p:sp>
            <p:nvSpPr>
              <p:cNvPr id="10" name="文本框 9"/>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1</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12" name="直接连接符 11"/>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课题综述</a:t>
              </a:r>
            </a:p>
          </p:txBody>
        </p:sp>
      </p:grpSp>
      <p:grpSp>
        <p:nvGrpSpPr>
          <p:cNvPr id="18" name="组合 17"/>
          <p:cNvGrpSpPr/>
          <p:nvPr/>
        </p:nvGrpSpPr>
        <p:grpSpPr>
          <a:xfrm>
            <a:off x="4752680" y="3140620"/>
            <a:ext cx="2282676" cy="711200"/>
            <a:chOff x="4752680" y="3095198"/>
            <a:chExt cx="2282676" cy="711200"/>
          </a:xfrm>
        </p:grpSpPr>
        <p:grpSp>
          <p:nvGrpSpPr>
            <p:cNvPr id="19" name="组合 18"/>
            <p:cNvGrpSpPr/>
            <p:nvPr/>
          </p:nvGrpSpPr>
          <p:grpSpPr>
            <a:xfrm>
              <a:off x="4752680" y="3098512"/>
              <a:ext cx="525375" cy="707886"/>
              <a:chOff x="4752680" y="3098512"/>
              <a:chExt cx="525375" cy="707886"/>
            </a:xfrm>
          </p:grpSpPr>
          <p:sp>
            <p:nvSpPr>
              <p:cNvPr id="21" name="文本框 20"/>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2</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22" name="直接连接符 21"/>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理论模型</a:t>
              </a:r>
            </a:p>
          </p:txBody>
        </p:sp>
      </p:grpSp>
      <p:grpSp>
        <p:nvGrpSpPr>
          <p:cNvPr id="23" name="组合 22"/>
          <p:cNvGrpSpPr/>
          <p:nvPr/>
        </p:nvGrpSpPr>
        <p:grpSpPr>
          <a:xfrm>
            <a:off x="4752680" y="4100442"/>
            <a:ext cx="2282676" cy="711200"/>
            <a:chOff x="4752680" y="3095198"/>
            <a:chExt cx="2282676" cy="711200"/>
          </a:xfrm>
        </p:grpSpPr>
        <p:grpSp>
          <p:nvGrpSpPr>
            <p:cNvPr id="24" name="组合 23"/>
            <p:cNvGrpSpPr/>
            <p:nvPr/>
          </p:nvGrpSpPr>
          <p:grpSpPr>
            <a:xfrm>
              <a:off x="4752680" y="3098512"/>
              <a:ext cx="525375" cy="707886"/>
              <a:chOff x="4752680" y="3098512"/>
              <a:chExt cx="525375" cy="707886"/>
            </a:xfrm>
          </p:grpSpPr>
          <p:sp>
            <p:nvSpPr>
              <p:cNvPr id="26" name="文本框 25"/>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3</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27" name="直接连接符 26"/>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建模方法</a:t>
              </a:r>
            </a:p>
          </p:txBody>
        </p:sp>
      </p:grpSp>
      <p:grpSp>
        <p:nvGrpSpPr>
          <p:cNvPr id="28" name="组合 27"/>
          <p:cNvGrpSpPr/>
          <p:nvPr/>
        </p:nvGrpSpPr>
        <p:grpSpPr>
          <a:xfrm>
            <a:off x="7648280" y="2159000"/>
            <a:ext cx="2282676" cy="711200"/>
            <a:chOff x="4752680" y="3095198"/>
            <a:chExt cx="2282676" cy="711200"/>
          </a:xfrm>
        </p:grpSpPr>
        <p:grpSp>
          <p:nvGrpSpPr>
            <p:cNvPr id="29" name="组合 28"/>
            <p:cNvGrpSpPr/>
            <p:nvPr/>
          </p:nvGrpSpPr>
          <p:grpSpPr>
            <a:xfrm>
              <a:off x="4752680" y="3098512"/>
              <a:ext cx="525375" cy="707886"/>
              <a:chOff x="4752680" y="3098512"/>
              <a:chExt cx="525375" cy="707886"/>
            </a:xfrm>
          </p:grpSpPr>
          <p:sp>
            <p:nvSpPr>
              <p:cNvPr id="31" name="文本框 30"/>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4</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32" name="直接连接符 31"/>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0" name="文本框 29"/>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核心结果</a:t>
              </a:r>
            </a:p>
          </p:txBody>
        </p:sp>
      </p:grpSp>
      <p:grpSp>
        <p:nvGrpSpPr>
          <p:cNvPr id="33" name="组合 32"/>
          <p:cNvGrpSpPr/>
          <p:nvPr/>
        </p:nvGrpSpPr>
        <p:grpSpPr>
          <a:xfrm>
            <a:off x="7648280" y="3142277"/>
            <a:ext cx="2282676" cy="711200"/>
            <a:chOff x="4752680" y="3095198"/>
            <a:chExt cx="2282676" cy="711200"/>
          </a:xfrm>
        </p:grpSpPr>
        <p:grpSp>
          <p:nvGrpSpPr>
            <p:cNvPr id="34" name="组合 33"/>
            <p:cNvGrpSpPr/>
            <p:nvPr/>
          </p:nvGrpSpPr>
          <p:grpSpPr>
            <a:xfrm>
              <a:off x="4752680" y="3098512"/>
              <a:ext cx="525375" cy="707886"/>
              <a:chOff x="4752680" y="3098512"/>
              <a:chExt cx="525375" cy="707886"/>
            </a:xfrm>
          </p:grpSpPr>
          <p:sp>
            <p:nvSpPr>
              <p:cNvPr id="36" name="文本框 35"/>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5</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37" name="直接连接符 36"/>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5" name="文本框 34"/>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研究结论</a:t>
              </a:r>
            </a:p>
          </p:txBody>
        </p:sp>
      </p:grpSp>
      <p:grpSp>
        <p:nvGrpSpPr>
          <p:cNvPr id="38" name="组合 37"/>
          <p:cNvGrpSpPr/>
          <p:nvPr/>
        </p:nvGrpSpPr>
        <p:grpSpPr>
          <a:xfrm>
            <a:off x="7648280" y="4125554"/>
            <a:ext cx="2282676" cy="711200"/>
            <a:chOff x="4752680" y="3095198"/>
            <a:chExt cx="2282676" cy="711200"/>
          </a:xfrm>
        </p:grpSpPr>
        <p:grpSp>
          <p:nvGrpSpPr>
            <p:cNvPr id="39" name="组合 38"/>
            <p:cNvGrpSpPr/>
            <p:nvPr/>
          </p:nvGrpSpPr>
          <p:grpSpPr>
            <a:xfrm>
              <a:off x="4752680" y="3098512"/>
              <a:ext cx="525375" cy="707886"/>
              <a:chOff x="4752680" y="3098512"/>
              <a:chExt cx="525375" cy="707886"/>
            </a:xfrm>
          </p:grpSpPr>
          <p:sp>
            <p:nvSpPr>
              <p:cNvPr id="41" name="文本框 40"/>
              <p:cNvSpPr txBox="1"/>
              <p:nvPr/>
            </p:nvSpPr>
            <p:spPr>
              <a:xfrm>
                <a:off x="4752680" y="3098512"/>
                <a:ext cx="441146" cy="707886"/>
              </a:xfrm>
              <a:prstGeom prst="rect">
                <a:avLst/>
              </a:prstGeom>
              <a:noFill/>
            </p:spPr>
            <p:txBody>
              <a:bodyPr wrap="none" rtlCol="0">
                <a:spAutoFit/>
              </a:bodyPr>
              <a:lstStyle/>
              <a:p>
                <a:r>
                  <a:rPr lang="en-US" altLang="zh-CN" sz="4000" dirty="0">
                    <a:solidFill>
                      <a:schemeClr val="tx1">
                        <a:lumMod val="75000"/>
                        <a:lumOff val="25000"/>
                      </a:schemeClr>
                    </a:solidFill>
                    <a:latin typeface="Adobe Caslon Pro" panose="0205050205050A020403" pitchFamily="18" charset="0"/>
                    <a:cs typeface="+mn-ea"/>
                    <a:sym typeface="+mn-lt"/>
                  </a:rPr>
                  <a:t>6</a:t>
                </a:r>
                <a:endParaRPr lang="zh-CN" altLang="en-US" sz="4000" dirty="0">
                  <a:solidFill>
                    <a:schemeClr val="tx1">
                      <a:lumMod val="75000"/>
                      <a:lumOff val="25000"/>
                    </a:schemeClr>
                  </a:solidFill>
                  <a:latin typeface="Adobe Caslon Pro" panose="0205050205050A020403" pitchFamily="18" charset="0"/>
                  <a:cs typeface="+mn-ea"/>
                  <a:sym typeface="+mn-lt"/>
                </a:endParaRPr>
              </a:p>
            </p:txBody>
          </p:sp>
          <p:cxnSp>
            <p:nvCxnSpPr>
              <p:cNvPr id="42" name="直接连接符 41"/>
              <p:cNvCxnSpPr/>
              <p:nvPr/>
            </p:nvCxnSpPr>
            <p:spPr>
              <a:xfrm flipH="1">
                <a:off x="4973253" y="3212161"/>
                <a:ext cx="304802" cy="39161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文本框 39"/>
            <p:cNvSpPr txBox="1"/>
            <p:nvPr/>
          </p:nvSpPr>
          <p:spPr>
            <a:xfrm>
              <a:off x="5414399" y="3095198"/>
              <a:ext cx="1620957" cy="523220"/>
            </a:xfrm>
            <a:prstGeom prst="rect">
              <a:avLst/>
            </a:prstGeom>
            <a:noFill/>
          </p:spPr>
          <p:txBody>
            <a:bodyPr wrap="none" rtlCol="0">
              <a:spAutoFit/>
            </a:bodyPr>
            <a:lstStyle/>
            <a:p>
              <a:r>
                <a:rPr lang="zh-CN" altLang="en-US" sz="2800" dirty="0">
                  <a:latin typeface="Adobe Caslon Pro" panose="0205050205050A020403" pitchFamily="18" charset="0"/>
                  <a:cs typeface="+mn-ea"/>
                  <a:sym typeface="+mn-lt"/>
                </a:rPr>
                <a:t>发表论文</a:t>
              </a:r>
            </a:p>
          </p:txBody>
        </p:sp>
      </p:grpSp>
    </p:spTree>
    <p:extLst>
      <p:ext uri="{BB962C8B-B14F-4D97-AF65-F5344CB8AC3E}">
        <p14:creationId xmlns:p14="http://schemas.microsoft.com/office/powerpoint/2010/main" val="28442854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07428" y="1670280"/>
            <a:ext cx="3773715" cy="769441"/>
          </a:xfrm>
          <a:prstGeom prst="rect">
            <a:avLst/>
          </a:prstGeom>
          <a:noFill/>
        </p:spPr>
        <p:txBody>
          <a:bodyPr wrap="square" rtlCol="0">
            <a:spAutoFit/>
          </a:bodyPr>
          <a:lstStyle/>
          <a:p>
            <a:r>
              <a:rPr lang="en-US" altLang="zh-CN" sz="4400" b="0" dirty="0">
                <a:solidFill>
                  <a:srgbClr val="33A8FF"/>
                </a:solidFill>
                <a:latin typeface="Britannic Bold" panose="020B0903060703020204" pitchFamily="34" charset="0"/>
                <a:ea typeface="Adobe Gothic Std B" panose="020B0800000000000000" pitchFamily="34" charset="-128"/>
              </a:rPr>
              <a:t>Project review</a:t>
            </a:r>
            <a:endParaRPr lang="zh-CN" altLang="en-US" sz="4400" b="0" dirty="0">
              <a:solidFill>
                <a:srgbClr val="33A8FF"/>
              </a:solidFill>
              <a:latin typeface="Britannic Bold" panose="020B0903060703020204" pitchFamily="34" charset="0"/>
            </a:endParaRPr>
          </a:p>
        </p:txBody>
      </p:sp>
      <p:sp>
        <p:nvSpPr>
          <p:cNvPr id="4" name="文本框 3"/>
          <p:cNvSpPr txBox="1"/>
          <p:nvPr/>
        </p:nvSpPr>
        <p:spPr>
          <a:xfrm>
            <a:off x="8781143" y="1782396"/>
            <a:ext cx="1826141" cy="584775"/>
          </a:xfrm>
          <a:prstGeom prst="rect">
            <a:avLst/>
          </a:prstGeom>
          <a:noFill/>
        </p:spPr>
        <p:txBody>
          <a:bodyPr wrap="none" rtlCol="0">
            <a:spAutoFit/>
          </a:bodyPr>
          <a:lstStyle/>
          <a:p>
            <a:r>
              <a:rPr lang="zh-CN" altLang="en-US" sz="3200" b="1" dirty="0">
                <a:solidFill>
                  <a:schemeClr val="tx1"/>
                </a:solidFill>
              </a:rPr>
              <a:t>课题综述</a:t>
            </a:r>
          </a:p>
        </p:txBody>
      </p:sp>
      <p:sp>
        <p:nvSpPr>
          <p:cNvPr id="5" name="文本框 4"/>
          <p:cNvSpPr txBox="1"/>
          <p:nvPr/>
        </p:nvSpPr>
        <p:spPr>
          <a:xfrm>
            <a:off x="5007428" y="2367171"/>
            <a:ext cx="2165978" cy="2063835"/>
          </a:xfrm>
          <a:prstGeom prst="rect">
            <a:avLst/>
          </a:prstGeom>
          <a:noFill/>
        </p:spPr>
        <p:txBody>
          <a:bodyPr wrap="none" rtlCol="0">
            <a:spAutoFit/>
          </a:bodyPr>
          <a:lstStyle/>
          <a:p>
            <a:pPr marL="285750" indent="-285750">
              <a:lnSpc>
                <a:spcPct val="150000"/>
              </a:lnSpc>
              <a:buFont typeface="Wingdings" panose="05000000000000000000" pitchFamily="2" charset="2"/>
              <a:buChar char="p"/>
            </a:pPr>
            <a:r>
              <a:rPr lang="zh-CN" altLang="en-US" sz="2200" b="0" dirty="0">
                <a:solidFill>
                  <a:schemeClr val="tx1"/>
                </a:solidFill>
                <a:latin typeface="+mn-ea"/>
                <a:ea typeface="+mn-ea"/>
              </a:rPr>
              <a:t>课题背景</a:t>
            </a:r>
            <a:endParaRPr lang="en-US" altLang="zh-CN" sz="2200" b="0" dirty="0">
              <a:solidFill>
                <a:schemeClr val="tx1"/>
              </a:solidFill>
              <a:latin typeface="+mn-ea"/>
              <a:ea typeface="+mn-ea"/>
            </a:endParaRPr>
          </a:p>
          <a:p>
            <a:pPr marL="285750" indent="-285750">
              <a:lnSpc>
                <a:spcPct val="150000"/>
              </a:lnSpc>
              <a:buFont typeface="Wingdings" panose="05000000000000000000" pitchFamily="2" charset="2"/>
              <a:buChar char="p"/>
            </a:pPr>
            <a:r>
              <a:rPr lang="zh-CN" altLang="en-US" sz="2200" dirty="0">
                <a:latin typeface="+mn-ea"/>
              </a:rPr>
              <a:t>文献综述</a:t>
            </a:r>
            <a:endParaRPr lang="en-US" altLang="zh-CN" sz="2200" b="0" dirty="0">
              <a:solidFill>
                <a:schemeClr val="tx1"/>
              </a:solidFill>
              <a:latin typeface="+mn-ea"/>
              <a:ea typeface="+mn-ea"/>
            </a:endParaRPr>
          </a:p>
          <a:p>
            <a:pPr marL="285750" indent="-285750">
              <a:lnSpc>
                <a:spcPct val="150000"/>
              </a:lnSpc>
              <a:buFont typeface="Wingdings" panose="05000000000000000000" pitchFamily="2" charset="2"/>
              <a:buChar char="p"/>
            </a:pPr>
            <a:r>
              <a:rPr lang="zh-CN" altLang="en-US" sz="2200" dirty="0">
                <a:latin typeface="+mn-ea"/>
              </a:rPr>
              <a:t>研究方法</a:t>
            </a:r>
            <a:endParaRPr lang="en-US" altLang="zh-CN" sz="2200" dirty="0">
              <a:latin typeface="+mn-ea"/>
            </a:endParaRPr>
          </a:p>
          <a:p>
            <a:pPr marL="285750" indent="-285750">
              <a:lnSpc>
                <a:spcPct val="150000"/>
              </a:lnSpc>
              <a:buFont typeface="Wingdings" panose="05000000000000000000" pitchFamily="2" charset="2"/>
              <a:buChar char="p"/>
            </a:pPr>
            <a:r>
              <a:rPr lang="zh-CN" altLang="en-US" sz="2200" b="0" dirty="0">
                <a:solidFill>
                  <a:schemeClr val="tx1"/>
                </a:solidFill>
                <a:latin typeface="+mn-ea"/>
                <a:ea typeface="+mn-ea"/>
              </a:rPr>
              <a:t>本文主要工作</a:t>
            </a:r>
            <a:endParaRPr lang="en-US" altLang="zh-CN" sz="2200" b="0" dirty="0">
              <a:solidFill>
                <a:schemeClr val="tx1"/>
              </a:solidFill>
              <a:latin typeface="+mn-ea"/>
              <a:ea typeface="+mn-ea"/>
            </a:endParaRPr>
          </a:p>
        </p:txBody>
      </p:sp>
      <p:sp>
        <p:nvSpPr>
          <p:cNvPr id="6" name="文本框 5"/>
          <p:cNvSpPr txBox="1"/>
          <p:nvPr/>
        </p:nvSpPr>
        <p:spPr>
          <a:xfrm>
            <a:off x="1797806" y="2293444"/>
            <a:ext cx="2236510" cy="707886"/>
          </a:xfrm>
          <a:prstGeom prst="rect">
            <a:avLst/>
          </a:prstGeom>
          <a:noFill/>
        </p:spPr>
        <p:txBody>
          <a:bodyPr wrap="none" rtlCol="0">
            <a:spAutoFit/>
          </a:bodyPr>
          <a:lstStyle/>
          <a:p>
            <a:r>
              <a:rPr lang="zh-CN" altLang="en-US" sz="4000" b="1" dirty="0">
                <a:solidFill>
                  <a:schemeClr val="bg1"/>
                </a:solidFill>
              </a:rPr>
              <a:t>第一部分</a:t>
            </a:r>
          </a:p>
        </p:txBody>
      </p:sp>
    </p:spTree>
    <p:extLst>
      <p:ext uri="{BB962C8B-B14F-4D97-AF65-F5344CB8AC3E}">
        <p14:creationId xmlns:p14="http://schemas.microsoft.com/office/powerpoint/2010/main" val="29742635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t>	</a:t>
            </a:r>
            <a:r>
              <a:rPr lang="zh-CN" altLang="en-US" sz="2400" b="1" dirty="0"/>
              <a:t>课题背景</a:t>
            </a:r>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课题综述</a:t>
            </a:r>
          </a:p>
        </p:txBody>
      </p:sp>
      <p:sp>
        <p:nvSpPr>
          <p:cNvPr id="11" name="矩形 10"/>
          <p:cNvSpPr/>
          <p:nvPr/>
        </p:nvSpPr>
        <p:spPr>
          <a:xfrm>
            <a:off x="426085" y="193611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理论模型</a:t>
            </a:r>
          </a:p>
        </p:txBody>
      </p:sp>
      <p:sp>
        <p:nvSpPr>
          <p:cNvPr id="12" name="矩形 11"/>
          <p:cNvSpPr/>
          <p:nvPr/>
        </p:nvSpPr>
        <p:spPr>
          <a:xfrm>
            <a:off x="426085" y="271335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建模方法</a:t>
            </a:r>
          </a:p>
        </p:txBody>
      </p:sp>
      <p:sp>
        <p:nvSpPr>
          <p:cNvPr id="13" name="矩形 12"/>
          <p:cNvSpPr/>
          <p:nvPr/>
        </p:nvSpPr>
        <p:spPr>
          <a:xfrm>
            <a:off x="426085" y="349059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核心结果</a:t>
            </a:r>
          </a:p>
        </p:txBody>
      </p:sp>
      <p:sp>
        <p:nvSpPr>
          <p:cNvPr id="14" name="矩形 13"/>
          <p:cNvSpPr/>
          <p:nvPr/>
        </p:nvSpPr>
        <p:spPr>
          <a:xfrm>
            <a:off x="426085" y="426783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研究结论</a:t>
            </a:r>
          </a:p>
        </p:txBody>
      </p:sp>
      <p:sp>
        <p:nvSpPr>
          <p:cNvPr id="15" name="矩形 14"/>
          <p:cNvSpPr/>
          <p:nvPr/>
        </p:nvSpPr>
        <p:spPr>
          <a:xfrm>
            <a:off x="426085" y="504507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发表论文</a:t>
            </a:r>
          </a:p>
        </p:txBody>
      </p:sp>
      <p:sp>
        <p:nvSpPr>
          <p:cNvPr id="17" name="Rectangle 2">
            <a:extLst>
              <a:ext uri="{FF2B5EF4-FFF2-40B4-BE49-F238E27FC236}">
                <a16:creationId xmlns:a16="http://schemas.microsoft.com/office/drawing/2014/main" id="{CA74D37E-8CF7-49EF-B454-3B93DAB696C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4">
            <a:extLst>
              <a:ext uri="{FF2B5EF4-FFF2-40B4-BE49-F238E27FC236}">
                <a16:creationId xmlns:a16="http://schemas.microsoft.com/office/drawing/2014/main" id="{F767DF96-74FB-4CF0-BF11-78EF8E7C3ED5}"/>
              </a:ext>
            </a:extLst>
          </p:cNvPr>
          <p:cNvSpPr>
            <a:spLocks noChangeArrowheads="1"/>
          </p:cNvSpPr>
          <p:nvPr/>
        </p:nvSpPr>
        <p:spPr bwMode="auto">
          <a:xfrm>
            <a:off x="7877175" y="26315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638753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07428" y="1670280"/>
            <a:ext cx="4669972" cy="769441"/>
          </a:xfrm>
          <a:prstGeom prst="rect">
            <a:avLst/>
          </a:prstGeom>
          <a:noFill/>
        </p:spPr>
        <p:txBody>
          <a:bodyPr wrap="square" rtlCol="0">
            <a:spAutoFit/>
          </a:bodyPr>
          <a:lstStyle/>
          <a:p>
            <a:r>
              <a:rPr lang="en-US" altLang="zh-CN" sz="4400" b="0" dirty="0">
                <a:solidFill>
                  <a:srgbClr val="33A8FF"/>
                </a:solidFill>
                <a:latin typeface="Britannic Bold" panose="020B0903060703020204" pitchFamily="34" charset="0"/>
                <a:ea typeface="Adobe Gothic Std B" panose="020B0800000000000000" pitchFamily="34" charset="-128"/>
              </a:rPr>
              <a:t>Theory and model</a:t>
            </a:r>
            <a:endParaRPr lang="zh-CN" altLang="en-US" sz="4400" b="0" dirty="0">
              <a:solidFill>
                <a:srgbClr val="33A8FF"/>
              </a:solidFill>
              <a:latin typeface="Britannic Bold" panose="020B0903060703020204" pitchFamily="34" charset="0"/>
            </a:endParaRPr>
          </a:p>
        </p:txBody>
      </p:sp>
      <p:sp>
        <p:nvSpPr>
          <p:cNvPr id="4" name="文本框 3"/>
          <p:cNvSpPr txBox="1"/>
          <p:nvPr/>
        </p:nvSpPr>
        <p:spPr>
          <a:xfrm>
            <a:off x="9481123" y="1762612"/>
            <a:ext cx="1826141" cy="584775"/>
          </a:xfrm>
          <a:prstGeom prst="rect">
            <a:avLst/>
          </a:prstGeom>
          <a:noFill/>
        </p:spPr>
        <p:txBody>
          <a:bodyPr wrap="none" rtlCol="0">
            <a:spAutoFit/>
          </a:bodyPr>
          <a:lstStyle/>
          <a:p>
            <a:r>
              <a:rPr lang="zh-CN" altLang="en-US" sz="3200" b="1" dirty="0">
                <a:solidFill>
                  <a:schemeClr val="tx1"/>
                </a:solidFill>
              </a:rPr>
              <a:t>理论</a:t>
            </a:r>
            <a:r>
              <a:rPr lang="zh-CN" altLang="en-US" sz="3200" b="1" dirty="0"/>
              <a:t>模型</a:t>
            </a:r>
            <a:endParaRPr lang="zh-CN" altLang="en-US" sz="3200" b="1" dirty="0">
              <a:solidFill>
                <a:schemeClr val="tx1"/>
              </a:solidFill>
            </a:endParaRPr>
          </a:p>
        </p:txBody>
      </p:sp>
      <p:sp>
        <p:nvSpPr>
          <p:cNvPr id="5" name="文本框 4"/>
          <p:cNvSpPr txBox="1"/>
          <p:nvPr/>
        </p:nvSpPr>
        <p:spPr>
          <a:xfrm>
            <a:off x="5007428" y="2367171"/>
            <a:ext cx="2246128" cy="2063835"/>
          </a:xfrm>
          <a:prstGeom prst="rect">
            <a:avLst/>
          </a:prstGeom>
          <a:noFill/>
        </p:spPr>
        <p:txBody>
          <a:bodyPr wrap="none" rtlCol="0">
            <a:spAutoFit/>
          </a:bodyPr>
          <a:lstStyle/>
          <a:p>
            <a:pPr marL="285750" indent="-285750">
              <a:lnSpc>
                <a:spcPct val="150000"/>
              </a:lnSpc>
              <a:buFont typeface="Wingdings" panose="05000000000000000000" pitchFamily="2" charset="2"/>
              <a:buChar char="p"/>
            </a:pPr>
            <a:r>
              <a:rPr lang="zh-CN" altLang="en-US" sz="2200" dirty="0">
                <a:latin typeface="+mn-ea"/>
              </a:rPr>
              <a:t>声固耦合</a:t>
            </a:r>
            <a:endParaRPr lang="en-US" altLang="zh-CN" sz="2200" dirty="0">
              <a:latin typeface="+mn-ea"/>
            </a:endParaRPr>
          </a:p>
          <a:p>
            <a:pPr marL="285750" indent="-285750">
              <a:lnSpc>
                <a:spcPct val="150000"/>
              </a:lnSpc>
              <a:buFont typeface="Wingdings" panose="05000000000000000000" pitchFamily="2" charset="2"/>
              <a:buChar char="p"/>
            </a:pPr>
            <a:r>
              <a:rPr lang="zh-CN" altLang="en-US" sz="2200" b="0" dirty="0">
                <a:solidFill>
                  <a:schemeClr val="tx1"/>
                </a:solidFill>
                <a:latin typeface="+mn-ea"/>
                <a:ea typeface="+mn-ea"/>
              </a:rPr>
              <a:t>不相干近似</a:t>
            </a:r>
            <a:endParaRPr lang="en-US" altLang="zh-CN" sz="2200" b="0" dirty="0">
              <a:solidFill>
                <a:schemeClr val="tx1"/>
              </a:solidFill>
              <a:latin typeface="+mn-ea"/>
              <a:ea typeface="+mn-ea"/>
            </a:endParaRPr>
          </a:p>
          <a:p>
            <a:pPr marL="285750" indent="-285750">
              <a:lnSpc>
                <a:spcPct val="150000"/>
              </a:lnSpc>
              <a:buFont typeface="Wingdings" panose="05000000000000000000" pitchFamily="2" charset="2"/>
              <a:buChar char="p"/>
            </a:pPr>
            <a:r>
              <a:rPr lang="zh-CN" altLang="en-US" sz="2200" dirty="0">
                <a:latin typeface="+mn-ea"/>
              </a:rPr>
              <a:t>扩散近似</a:t>
            </a:r>
            <a:endParaRPr lang="en-US" altLang="zh-CN" sz="2200" dirty="0">
              <a:latin typeface="+mn-ea"/>
            </a:endParaRPr>
          </a:p>
          <a:p>
            <a:pPr marL="285750" indent="-285750">
              <a:lnSpc>
                <a:spcPct val="150000"/>
              </a:lnSpc>
              <a:buFont typeface="Wingdings" panose="05000000000000000000" pitchFamily="2" charset="2"/>
              <a:buChar char="p"/>
            </a:pPr>
            <a:r>
              <a:rPr lang="zh-CN" altLang="en-US" sz="2200" dirty="0">
                <a:latin typeface="+mn-ea"/>
              </a:rPr>
              <a:t>辐射传输理论</a:t>
            </a:r>
            <a:endParaRPr lang="en-US" altLang="zh-CN" sz="2200" dirty="0">
              <a:latin typeface="+mn-ea"/>
            </a:endParaRPr>
          </a:p>
        </p:txBody>
      </p:sp>
      <p:sp>
        <p:nvSpPr>
          <p:cNvPr id="6" name="文本框 5"/>
          <p:cNvSpPr txBox="1"/>
          <p:nvPr/>
        </p:nvSpPr>
        <p:spPr>
          <a:xfrm>
            <a:off x="1797806" y="2293444"/>
            <a:ext cx="2236510" cy="707886"/>
          </a:xfrm>
          <a:prstGeom prst="rect">
            <a:avLst/>
          </a:prstGeom>
          <a:noFill/>
        </p:spPr>
        <p:txBody>
          <a:bodyPr wrap="none" rtlCol="0">
            <a:spAutoFit/>
          </a:bodyPr>
          <a:lstStyle/>
          <a:p>
            <a:r>
              <a:rPr lang="zh-CN" altLang="en-US" sz="4000" b="1" dirty="0">
                <a:solidFill>
                  <a:schemeClr val="bg1"/>
                </a:solidFill>
              </a:rPr>
              <a:t>第二部分</a:t>
            </a:r>
          </a:p>
        </p:txBody>
      </p:sp>
    </p:spTree>
    <p:extLst>
      <p:ext uri="{BB962C8B-B14F-4D97-AF65-F5344CB8AC3E}">
        <p14:creationId xmlns:p14="http://schemas.microsoft.com/office/powerpoint/2010/main" val="97888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t>	</a:t>
            </a:r>
            <a:r>
              <a:rPr lang="zh-CN" altLang="en-US" sz="2400" b="1" dirty="0"/>
              <a:t>声固耦合</a:t>
            </a:r>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课题综述</a:t>
            </a:r>
          </a:p>
        </p:txBody>
      </p:sp>
      <p:sp>
        <p:nvSpPr>
          <p:cNvPr id="11" name="矩形 10"/>
          <p:cNvSpPr/>
          <p:nvPr/>
        </p:nvSpPr>
        <p:spPr>
          <a:xfrm>
            <a:off x="426085" y="193611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理论模型</a:t>
            </a:r>
          </a:p>
        </p:txBody>
      </p:sp>
      <p:sp>
        <p:nvSpPr>
          <p:cNvPr id="12" name="矩形 11"/>
          <p:cNvSpPr/>
          <p:nvPr/>
        </p:nvSpPr>
        <p:spPr>
          <a:xfrm>
            <a:off x="426085" y="271335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建模方法</a:t>
            </a:r>
          </a:p>
        </p:txBody>
      </p:sp>
      <p:sp>
        <p:nvSpPr>
          <p:cNvPr id="13" name="矩形 12"/>
          <p:cNvSpPr/>
          <p:nvPr/>
        </p:nvSpPr>
        <p:spPr>
          <a:xfrm>
            <a:off x="426085" y="349059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核心结果</a:t>
            </a:r>
          </a:p>
        </p:txBody>
      </p:sp>
      <p:sp>
        <p:nvSpPr>
          <p:cNvPr id="14" name="矩形 13"/>
          <p:cNvSpPr/>
          <p:nvPr/>
        </p:nvSpPr>
        <p:spPr>
          <a:xfrm>
            <a:off x="426085" y="426783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研究结论</a:t>
            </a:r>
          </a:p>
        </p:txBody>
      </p:sp>
      <p:sp>
        <p:nvSpPr>
          <p:cNvPr id="15" name="矩形 14"/>
          <p:cNvSpPr/>
          <p:nvPr/>
        </p:nvSpPr>
        <p:spPr>
          <a:xfrm>
            <a:off x="426085" y="504507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发表论文</a:t>
            </a:r>
          </a:p>
        </p:txBody>
      </p:sp>
      <p:sp>
        <p:nvSpPr>
          <p:cNvPr id="4" name="Rectangle 355">
            <a:extLst>
              <a:ext uri="{FF2B5EF4-FFF2-40B4-BE49-F238E27FC236}">
                <a16:creationId xmlns:a16="http://schemas.microsoft.com/office/drawing/2014/main" id="{FF8A2AF3-5DC4-4F24-9740-232575FD18B8}"/>
              </a:ext>
            </a:extLst>
          </p:cNvPr>
          <p:cNvSpPr>
            <a:spLocks noChangeArrowheads="1"/>
          </p:cNvSpPr>
          <p:nvPr/>
        </p:nvSpPr>
        <p:spPr bwMode="auto">
          <a:xfrm>
            <a:off x="1677986" y="971867"/>
            <a:ext cx="1547693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96877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07428" y="1670280"/>
            <a:ext cx="4473456" cy="769441"/>
          </a:xfrm>
          <a:prstGeom prst="rect">
            <a:avLst/>
          </a:prstGeom>
          <a:noFill/>
        </p:spPr>
        <p:txBody>
          <a:bodyPr wrap="square" lIns="0" rIns="72000" rtlCol="0">
            <a:spAutoFit/>
          </a:bodyPr>
          <a:lstStyle/>
          <a:p>
            <a:r>
              <a:rPr lang="en-US" altLang="zh-CN" sz="4400" b="0" dirty="0">
                <a:solidFill>
                  <a:srgbClr val="33A8FF"/>
                </a:solidFill>
                <a:latin typeface="Britannic Bold" panose="020B0903060703020204" pitchFamily="34" charset="0"/>
                <a:ea typeface="Adobe Gothic Std B" panose="020B0800000000000000" pitchFamily="34" charset="-128"/>
              </a:rPr>
              <a:t>Modeling method</a:t>
            </a:r>
            <a:endParaRPr lang="zh-CN" altLang="en-US" sz="4400" b="0" dirty="0">
              <a:solidFill>
                <a:srgbClr val="33A8FF"/>
              </a:solidFill>
              <a:latin typeface="Britannic Bold" panose="020B0903060703020204" pitchFamily="34" charset="0"/>
            </a:endParaRPr>
          </a:p>
        </p:txBody>
      </p:sp>
      <p:sp>
        <p:nvSpPr>
          <p:cNvPr id="4" name="文本框 3"/>
          <p:cNvSpPr txBox="1"/>
          <p:nvPr/>
        </p:nvSpPr>
        <p:spPr>
          <a:xfrm>
            <a:off x="9480884" y="1762612"/>
            <a:ext cx="1826141" cy="584775"/>
          </a:xfrm>
          <a:prstGeom prst="rect">
            <a:avLst/>
          </a:prstGeom>
          <a:noFill/>
        </p:spPr>
        <p:txBody>
          <a:bodyPr wrap="none" rtlCol="0">
            <a:spAutoFit/>
          </a:bodyPr>
          <a:lstStyle/>
          <a:p>
            <a:r>
              <a:rPr lang="zh-CN" altLang="en-US" sz="3200" b="1" dirty="0">
                <a:solidFill>
                  <a:schemeClr val="tx1"/>
                </a:solidFill>
              </a:rPr>
              <a:t>建模方法</a:t>
            </a:r>
          </a:p>
        </p:txBody>
      </p:sp>
      <p:sp>
        <p:nvSpPr>
          <p:cNvPr id="6" name="文本框 5"/>
          <p:cNvSpPr txBox="1"/>
          <p:nvPr/>
        </p:nvSpPr>
        <p:spPr>
          <a:xfrm>
            <a:off x="1797806" y="2293444"/>
            <a:ext cx="2236510" cy="707886"/>
          </a:xfrm>
          <a:prstGeom prst="rect">
            <a:avLst/>
          </a:prstGeom>
          <a:noFill/>
        </p:spPr>
        <p:txBody>
          <a:bodyPr wrap="none" rtlCol="0">
            <a:spAutoFit/>
          </a:bodyPr>
          <a:lstStyle/>
          <a:p>
            <a:r>
              <a:rPr lang="zh-CN" altLang="en-US" sz="4000" b="1" dirty="0">
                <a:solidFill>
                  <a:schemeClr val="bg1"/>
                </a:solidFill>
              </a:rPr>
              <a:t>第三部分</a:t>
            </a:r>
          </a:p>
        </p:txBody>
      </p:sp>
      <p:sp>
        <p:nvSpPr>
          <p:cNvPr id="5" name="文本框 4">
            <a:extLst>
              <a:ext uri="{FF2B5EF4-FFF2-40B4-BE49-F238E27FC236}">
                <a16:creationId xmlns:a16="http://schemas.microsoft.com/office/drawing/2014/main" id="{319A8ABD-8775-4656-A1C2-188266C30ABD}"/>
              </a:ext>
            </a:extLst>
          </p:cNvPr>
          <p:cNvSpPr txBox="1"/>
          <p:nvPr/>
        </p:nvSpPr>
        <p:spPr>
          <a:xfrm>
            <a:off x="5007428" y="2367171"/>
            <a:ext cx="1883849" cy="1048172"/>
          </a:xfrm>
          <a:prstGeom prst="rect">
            <a:avLst/>
          </a:prstGeom>
          <a:noFill/>
        </p:spPr>
        <p:txBody>
          <a:bodyPr wrap="none" rtlCol="0">
            <a:spAutoFit/>
          </a:bodyPr>
          <a:lstStyle/>
          <a:p>
            <a:pPr marL="285750" indent="-285750">
              <a:lnSpc>
                <a:spcPct val="150000"/>
              </a:lnSpc>
              <a:buFont typeface="Wingdings" panose="05000000000000000000" pitchFamily="2" charset="2"/>
              <a:buChar char="p"/>
            </a:pPr>
            <a:r>
              <a:rPr lang="zh-CN" altLang="en-US" sz="2200" dirty="0">
                <a:latin typeface="+mn-ea"/>
              </a:rPr>
              <a:t>建模方法</a:t>
            </a:r>
            <a:endParaRPr lang="en-US" altLang="zh-CN" sz="2200" dirty="0">
              <a:latin typeface="+mn-ea"/>
            </a:endParaRPr>
          </a:p>
          <a:p>
            <a:pPr marL="285750" indent="-285750">
              <a:lnSpc>
                <a:spcPct val="150000"/>
              </a:lnSpc>
              <a:buFont typeface="Wingdings" panose="05000000000000000000" pitchFamily="2" charset="2"/>
              <a:buChar char="p"/>
            </a:pPr>
            <a:r>
              <a:rPr lang="zh-CN" altLang="en-US" sz="2200" dirty="0">
                <a:latin typeface="+mn-ea"/>
              </a:rPr>
              <a:t>有限元仿真</a:t>
            </a:r>
            <a:endParaRPr lang="en-US" altLang="zh-CN" sz="2200" dirty="0">
              <a:latin typeface="+mn-ea"/>
            </a:endParaRPr>
          </a:p>
        </p:txBody>
      </p:sp>
    </p:spTree>
    <p:extLst>
      <p:ext uri="{BB962C8B-B14F-4D97-AF65-F5344CB8AC3E}">
        <p14:creationId xmlns:p14="http://schemas.microsoft.com/office/powerpoint/2010/main" val="2530064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t>	</a:t>
            </a:r>
            <a:r>
              <a:rPr lang="zh-CN" altLang="en-US" sz="2400" b="1" dirty="0"/>
              <a:t>建模方法</a:t>
            </a:r>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课题综述</a:t>
            </a:r>
          </a:p>
        </p:txBody>
      </p:sp>
      <p:sp>
        <p:nvSpPr>
          <p:cNvPr id="11" name="矩形 10"/>
          <p:cNvSpPr/>
          <p:nvPr/>
        </p:nvSpPr>
        <p:spPr>
          <a:xfrm>
            <a:off x="426085" y="193611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理论模型</a:t>
            </a:r>
          </a:p>
        </p:txBody>
      </p:sp>
      <p:sp>
        <p:nvSpPr>
          <p:cNvPr id="12" name="矩形 11"/>
          <p:cNvSpPr/>
          <p:nvPr/>
        </p:nvSpPr>
        <p:spPr>
          <a:xfrm>
            <a:off x="426085" y="271335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建模方法</a:t>
            </a:r>
          </a:p>
        </p:txBody>
      </p:sp>
      <p:sp>
        <p:nvSpPr>
          <p:cNvPr id="13" name="矩形 12"/>
          <p:cNvSpPr/>
          <p:nvPr/>
        </p:nvSpPr>
        <p:spPr>
          <a:xfrm>
            <a:off x="426085" y="349059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核心结果</a:t>
            </a:r>
          </a:p>
        </p:txBody>
      </p:sp>
      <p:sp>
        <p:nvSpPr>
          <p:cNvPr id="14" name="矩形 13"/>
          <p:cNvSpPr/>
          <p:nvPr/>
        </p:nvSpPr>
        <p:spPr>
          <a:xfrm>
            <a:off x="426085" y="426783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研究结论</a:t>
            </a:r>
          </a:p>
        </p:txBody>
      </p:sp>
      <p:sp>
        <p:nvSpPr>
          <p:cNvPr id="15" name="矩形 14"/>
          <p:cNvSpPr/>
          <p:nvPr/>
        </p:nvSpPr>
        <p:spPr>
          <a:xfrm>
            <a:off x="426085" y="5045073"/>
            <a:ext cx="1231900"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发表论文</a:t>
            </a:r>
          </a:p>
        </p:txBody>
      </p:sp>
      <p:sp>
        <p:nvSpPr>
          <p:cNvPr id="4" name="Rectangle 2">
            <a:extLst>
              <a:ext uri="{FF2B5EF4-FFF2-40B4-BE49-F238E27FC236}">
                <a16:creationId xmlns:a16="http://schemas.microsoft.com/office/drawing/2014/main" id="{471F8C44-E225-4FE4-84AB-9645DC48C063}"/>
              </a:ext>
            </a:extLst>
          </p:cNvPr>
          <p:cNvSpPr>
            <a:spLocks noChangeArrowheads="1"/>
          </p:cNvSpPr>
          <p:nvPr/>
        </p:nvSpPr>
        <p:spPr bwMode="auto">
          <a:xfrm>
            <a:off x="1711642" y="714038"/>
            <a:ext cx="242145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3112258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07428" y="1670280"/>
            <a:ext cx="3521430" cy="769441"/>
          </a:xfrm>
          <a:prstGeom prst="rect">
            <a:avLst/>
          </a:prstGeom>
          <a:noFill/>
        </p:spPr>
        <p:txBody>
          <a:bodyPr wrap="square" rtlCol="0">
            <a:spAutoFit/>
          </a:bodyPr>
          <a:lstStyle/>
          <a:p>
            <a:r>
              <a:rPr lang="en-US" altLang="zh-CN" sz="4400" b="0" dirty="0">
                <a:solidFill>
                  <a:srgbClr val="33A8FF"/>
                </a:solidFill>
                <a:latin typeface="Britannic Bold" panose="020B0903060703020204" pitchFamily="34" charset="0"/>
                <a:ea typeface="Adobe Gothic Std B" panose="020B0800000000000000" pitchFamily="34" charset="-128"/>
              </a:rPr>
              <a:t>Main Results</a:t>
            </a:r>
            <a:endParaRPr lang="zh-CN" altLang="en-US" sz="4400" b="0" dirty="0">
              <a:solidFill>
                <a:srgbClr val="33A8FF"/>
              </a:solidFill>
              <a:latin typeface="Britannic Bold" panose="020B0903060703020204" pitchFamily="34" charset="0"/>
            </a:endParaRPr>
          </a:p>
        </p:txBody>
      </p:sp>
      <p:sp>
        <p:nvSpPr>
          <p:cNvPr id="4" name="文本框 3"/>
          <p:cNvSpPr txBox="1"/>
          <p:nvPr/>
        </p:nvSpPr>
        <p:spPr>
          <a:xfrm>
            <a:off x="8528858" y="1782396"/>
            <a:ext cx="1826141" cy="584775"/>
          </a:xfrm>
          <a:prstGeom prst="rect">
            <a:avLst/>
          </a:prstGeom>
          <a:noFill/>
        </p:spPr>
        <p:txBody>
          <a:bodyPr wrap="none" rtlCol="0">
            <a:spAutoFit/>
          </a:bodyPr>
          <a:lstStyle/>
          <a:p>
            <a:r>
              <a:rPr lang="zh-CN" altLang="en-US" sz="3200" b="1" dirty="0">
                <a:solidFill>
                  <a:schemeClr val="tx1"/>
                </a:solidFill>
              </a:rPr>
              <a:t>核心结果</a:t>
            </a:r>
          </a:p>
        </p:txBody>
      </p:sp>
      <p:sp>
        <p:nvSpPr>
          <p:cNvPr id="5" name="文本框 4"/>
          <p:cNvSpPr txBox="1"/>
          <p:nvPr/>
        </p:nvSpPr>
        <p:spPr>
          <a:xfrm>
            <a:off x="5007428" y="2367171"/>
            <a:ext cx="3294492" cy="2063835"/>
          </a:xfrm>
          <a:prstGeom prst="rect">
            <a:avLst/>
          </a:prstGeom>
          <a:noFill/>
        </p:spPr>
        <p:txBody>
          <a:bodyPr wrap="none" rtlCol="0">
            <a:spAutoFit/>
          </a:bodyPr>
          <a:lstStyle/>
          <a:p>
            <a:pPr marL="285750" indent="-285750">
              <a:lnSpc>
                <a:spcPct val="150000"/>
              </a:lnSpc>
              <a:buFont typeface="Wingdings" panose="05000000000000000000" pitchFamily="2" charset="2"/>
              <a:buChar char="p"/>
            </a:pPr>
            <a:r>
              <a:rPr lang="zh-CN" altLang="en-US" sz="2200" dirty="0">
                <a:latin typeface="+mn-ea"/>
              </a:rPr>
              <a:t>头波声速与衰减</a:t>
            </a:r>
            <a:endParaRPr lang="en-US" altLang="zh-CN" sz="2200" dirty="0">
              <a:latin typeface="+mn-ea"/>
            </a:endParaRPr>
          </a:p>
          <a:p>
            <a:pPr marL="285750" indent="-285750">
              <a:lnSpc>
                <a:spcPct val="150000"/>
              </a:lnSpc>
              <a:buFont typeface="Wingdings" panose="05000000000000000000" pitchFamily="2" charset="2"/>
              <a:buChar char="p"/>
            </a:pPr>
            <a:r>
              <a:rPr lang="zh-CN" altLang="en-US" sz="2200" b="0" dirty="0">
                <a:solidFill>
                  <a:schemeClr val="tx1"/>
                </a:solidFill>
                <a:latin typeface="+mn-ea"/>
                <a:ea typeface="+mn-ea"/>
              </a:rPr>
              <a:t>紧密态模型结果</a:t>
            </a:r>
            <a:endParaRPr lang="en-US" altLang="zh-CN" sz="2200" b="0" dirty="0">
              <a:solidFill>
                <a:schemeClr val="tx1"/>
              </a:solidFill>
              <a:latin typeface="+mn-ea"/>
              <a:ea typeface="+mn-ea"/>
            </a:endParaRPr>
          </a:p>
          <a:p>
            <a:pPr marL="285750" indent="-285750">
              <a:lnSpc>
                <a:spcPct val="150000"/>
              </a:lnSpc>
              <a:buFont typeface="Wingdings" panose="05000000000000000000" pitchFamily="2" charset="2"/>
              <a:buChar char="p"/>
            </a:pPr>
            <a:r>
              <a:rPr lang="zh-CN" altLang="en-US" sz="2200" dirty="0">
                <a:latin typeface="+mn-ea"/>
              </a:rPr>
              <a:t>弹道波向扩散波的转移</a:t>
            </a:r>
            <a:endParaRPr lang="en-US" altLang="zh-CN" sz="2200" b="0" dirty="0">
              <a:solidFill>
                <a:schemeClr val="tx1"/>
              </a:solidFill>
              <a:latin typeface="+mn-ea"/>
              <a:ea typeface="+mn-ea"/>
            </a:endParaRPr>
          </a:p>
          <a:p>
            <a:pPr marL="285750" indent="-285750">
              <a:lnSpc>
                <a:spcPct val="150000"/>
              </a:lnSpc>
              <a:buFont typeface="Wingdings" panose="05000000000000000000" pitchFamily="2" charset="2"/>
              <a:buChar char="p"/>
            </a:pPr>
            <a:r>
              <a:rPr lang="zh-CN" altLang="en-US" sz="2200" dirty="0">
                <a:latin typeface="+mn-ea"/>
              </a:rPr>
              <a:t>稀疏态模型结果</a:t>
            </a:r>
            <a:endParaRPr lang="en-US" altLang="zh-CN" sz="2200" dirty="0">
              <a:latin typeface="+mn-ea"/>
            </a:endParaRPr>
          </a:p>
        </p:txBody>
      </p:sp>
      <p:sp>
        <p:nvSpPr>
          <p:cNvPr id="6" name="文本框 5"/>
          <p:cNvSpPr txBox="1"/>
          <p:nvPr/>
        </p:nvSpPr>
        <p:spPr>
          <a:xfrm>
            <a:off x="1797806" y="2293444"/>
            <a:ext cx="2236510" cy="707886"/>
          </a:xfrm>
          <a:prstGeom prst="rect">
            <a:avLst/>
          </a:prstGeom>
          <a:noFill/>
        </p:spPr>
        <p:txBody>
          <a:bodyPr wrap="none" rtlCol="0">
            <a:spAutoFit/>
          </a:bodyPr>
          <a:lstStyle/>
          <a:p>
            <a:r>
              <a:rPr lang="zh-CN" altLang="en-US" sz="4000" b="1" dirty="0">
                <a:solidFill>
                  <a:schemeClr val="bg1"/>
                </a:solidFill>
              </a:rPr>
              <a:t>第四部分</a:t>
            </a:r>
          </a:p>
        </p:txBody>
      </p:sp>
    </p:spTree>
    <p:extLst>
      <p:ext uri="{BB962C8B-B14F-4D97-AF65-F5344CB8AC3E}">
        <p14:creationId xmlns:p14="http://schemas.microsoft.com/office/powerpoint/2010/main" val="37913798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t>	</a:t>
            </a:r>
            <a:r>
              <a:rPr lang="zh-CN" altLang="en-US" b="1" dirty="0"/>
              <a:t>头波声速</a:t>
            </a:r>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课题综述</a:t>
            </a:r>
          </a:p>
        </p:txBody>
      </p:sp>
      <p:sp>
        <p:nvSpPr>
          <p:cNvPr id="11" name="矩形 10"/>
          <p:cNvSpPr/>
          <p:nvPr/>
        </p:nvSpPr>
        <p:spPr>
          <a:xfrm>
            <a:off x="426085" y="193611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理论模型</a:t>
            </a:r>
          </a:p>
        </p:txBody>
      </p:sp>
      <p:sp>
        <p:nvSpPr>
          <p:cNvPr id="12" name="矩形 11"/>
          <p:cNvSpPr/>
          <p:nvPr/>
        </p:nvSpPr>
        <p:spPr>
          <a:xfrm>
            <a:off x="426085" y="271335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建模方法</a:t>
            </a:r>
          </a:p>
        </p:txBody>
      </p:sp>
      <p:sp>
        <p:nvSpPr>
          <p:cNvPr id="13" name="矩形 12"/>
          <p:cNvSpPr/>
          <p:nvPr/>
        </p:nvSpPr>
        <p:spPr>
          <a:xfrm>
            <a:off x="426085" y="349059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核心结果</a:t>
            </a:r>
          </a:p>
        </p:txBody>
      </p:sp>
      <p:sp>
        <p:nvSpPr>
          <p:cNvPr id="14" name="矩形 13"/>
          <p:cNvSpPr/>
          <p:nvPr/>
        </p:nvSpPr>
        <p:spPr>
          <a:xfrm>
            <a:off x="426085" y="426783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研究结论</a:t>
            </a:r>
          </a:p>
        </p:txBody>
      </p:sp>
      <p:sp>
        <p:nvSpPr>
          <p:cNvPr id="15" name="矩形 14"/>
          <p:cNvSpPr/>
          <p:nvPr/>
        </p:nvSpPr>
        <p:spPr>
          <a:xfrm>
            <a:off x="426085" y="50450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参考文献</a:t>
            </a:r>
          </a:p>
        </p:txBody>
      </p:sp>
      <p:sp>
        <p:nvSpPr>
          <p:cNvPr id="3" name="Rectangle 2">
            <a:extLst>
              <a:ext uri="{FF2B5EF4-FFF2-40B4-BE49-F238E27FC236}">
                <a16:creationId xmlns:a16="http://schemas.microsoft.com/office/drawing/2014/main" id="{5626E00C-9D5F-4C67-8F33-A8ED2812691D}"/>
              </a:ext>
            </a:extLst>
          </p:cNvPr>
          <p:cNvSpPr>
            <a:spLocks noChangeArrowheads="1"/>
          </p:cNvSpPr>
          <p:nvPr/>
        </p:nvSpPr>
        <p:spPr bwMode="auto">
          <a:xfrm>
            <a:off x="1777254" y="698237"/>
            <a:ext cx="14775163" cy="46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9" name="Rectangle 5">
            <a:extLst>
              <a:ext uri="{FF2B5EF4-FFF2-40B4-BE49-F238E27FC236}">
                <a16:creationId xmlns:a16="http://schemas.microsoft.com/office/drawing/2014/main" id="{0E7C1D7E-3BA6-4122-B685-4AB0EDB0ED34}"/>
              </a:ext>
            </a:extLst>
          </p:cNvPr>
          <p:cNvSpPr>
            <a:spLocks noChangeArrowheads="1"/>
          </p:cNvSpPr>
          <p:nvPr/>
        </p:nvSpPr>
        <p:spPr bwMode="auto">
          <a:xfrm>
            <a:off x="7167805" y="345631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99232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07428" y="1670280"/>
            <a:ext cx="3238797" cy="769441"/>
          </a:xfrm>
          <a:prstGeom prst="rect">
            <a:avLst/>
          </a:prstGeom>
          <a:noFill/>
        </p:spPr>
        <p:txBody>
          <a:bodyPr wrap="square" rtlCol="0">
            <a:spAutoFit/>
          </a:bodyPr>
          <a:lstStyle/>
          <a:p>
            <a:r>
              <a:rPr lang="en-US" altLang="zh-CN" sz="4400" b="0" dirty="0">
                <a:solidFill>
                  <a:srgbClr val="33A8FF"/>
                </a:solidFill>
                <a:latin typeface="Britannic Bold" panose="020B0903060703020204" pitchFamily="34" charset="0"/>
                <a:ea typeface="Adobe Gothic Std B" panose="020B0800000000000000" pitchFamily="34" charset="-128"/>
              </a:rPr>
              <a:t>Conclusions</a:t>
            </a:r>
            <a:endParaRPr lang="zh-CN" altLang="en-US" sz="4400" b="0" dirty="0">
              <a:solidFill>
                <a:srgbClr val="33A8FF"/>
              </a:solidFill>
              <a:latin typeface="Britannic Bold" panose="020B0903060703020204" pitchFamily="34" charset="0"/>
            </a:endParaRPr>
          </a:p>
        </p:txBody>
      </p:sp>
      <p:sp>
        <p:nvSpPr>
          <p:cNvPr id="4" name="文本框 3"/>
          <p:cNvSpPr txBox="1"/>
          <p:nvPr/>
        </p:nvSpPr>
        <p:spPr>
          <a:xfrm>
            <a:off x="8246225" y="1782396"/>
            <a:ext cx="1826141" cy="584775"/>
          </a:xfrm>
          <a:prstGeom prst="rect">
            <a:avLst/>
          </a:prstGeom>
          <a:noFill/>
        </p:spPr>
        <p:txBody>
          <a:bodyPr wrap="none" rtlCol="0">
            <a:spAutoFit/>
          </a:bodyPr>
          <a:lstStyle/>
          <a:p>
            <a:r>
              <a:rPr lang="zh-CN" altLang="en-US" sz="3200" b="1" dirty="0">
                <a:solidFill>
                  <a:schemeClr val="tx1"/>
                </a:solidFill>
              </a:rPr>
              <a:t>研究结论</a:t>
            </a:r>
          </a:p>
        </p:txBody>
      </p:sp>
      <p:sp>
        <p:nvSpPr>
          <p:cNvPr id="6" name="文本框 5"/>
          <p:cNvSpPr txBox="1"/>
          <p:nvPr/>
        </p:nvSpPr>
        <p:spPr>
          <a:xfrm>
            <a:off x="1797806" y="2293444"/>
            <a:ext cx="2236510" cy="707886"/>
          </a:xfrm>
          <a:prstGeom prst="rect">
            <a:avLst/>
          </a:prstGeom>
          <a:noFill/>
        </p:spPr>
        <p:txBody>
          <a:bodyPr wrap="none" rtlCol="0">
            <a:spAutoFit/>
          </a:bodyPr>
          <a:lstStyle/>
          <a:p>
            <a:r>
              <a:rPr lang="zh-CN" altLang="en-US" sz="4000" b="1" dirty="0">
                <a:solidFill>
                  <a:schemeClr val="bg1"/>
                </a:solidFill>
              </a:rPr>
              <a:t>第五部分</a:t>
            </a:r>
          </a:p>
        </p:txBody>
      </p:sp>
    </p:spTree>
    <p:extLst>
      <p:ext uri="{BB962C8B-B14F-4D97-AF65-F5344CB8AC3E}">
        <p14:creationId xmlns:p14="http://schemas.microsoft.com/office/powerpoint/2010/main" val="24870054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课题综述</a:t>
            </a:r>
          </a:p>
        </p:txBody>
      </p:sp>
      <p:sp>
        <p:nvSpPr>
          <p:cNvPr id="11" name="矩形 10"/>
          <p:cNvSpPr/>
          <p:nvPr/>
        </p:nvSpPr>
        <p:spPr>
          <a:xfrm>
            <a:off x="426085" y="193611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理论模型</a:t>
            </a:r>
          </a:p>
        </p:txBody>
      </p:sp>
      <p:sp>
        <p:nvSpPr>
          <p:cNvPr id="12" name="矩形 11"/>
          <p:cNvSpPr/>
          <p:nvPr/>
        </p:nvSpPr>
        <p:spPr>
          <a:xfrm>
            <a:off x="426085" y="271335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建模方法</a:t>
            </a:r>
          </a:p>
        </p:txBody>
      </p:sp>
      <p:sp>
        <p:nvSpPr>
          <p:cNvPr id="13" name="矩形 12"/>
          <p:cNvSpPr/>
          <p:nvPr/>
        </p:nvSpPr>
        <p:spPr>
          <a:xfrm>
            <a:off x="426085" y="349059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核心结果</a:t>
            </a:r>
          </a:p>
        </p:txBody>
      </p:sp>
      <p:sp>
        <p:nvSpPr>
          <p:cNvPr id="14" name="矩形 13"/>
          <p:cNvSpPr/>
          <p:nvPr/>
        </p:nvSpPr>
        <p:spPr>
          <a:xfrm>
            <a:off x="426085" y="426783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研究结论</a:t>
            </a:r>
          </a:p>
        </p:txBody>
      </p:sp>
      <p:sp>
        <p:nvSpPr>
          <p:cNvPr id="15" name="矩形 14"/>
          <p:cNvSpPr/>
          <p:nvPr/>
        </p:nvSpPr>
        <p:spPr>
          <a:xfrm>
            <a:off x="426085" y="50450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发表论文</a:t>
            </a:r>
          </a:p>
        </p:txBody>
      </p:sp>
    </p:spTree>
    <p:extLst>
      <p:ext uri="{BB962C8B-B14F-4D97-AF65-F5344CB8AC3E}">
        <p14:creationId xmlns:p14="http://schemas.microsoft.com/office/powerpoint/2010/main" val="24411041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51000" y="0"/>
            <a:ext cx="10541000" cy="660400"/>
          </a:xfrm>
          <a:prstGeom prst="rect">
            <a:avLst/>
          </a:prstGeom>
          <a:solidFill>
            <a:srgbClr val="6404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13A3773E-F795-4753-8FDB-08AC33B5B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3700" y="115311"/>
            <a:ext cx="1340209" cy="417077"/>
          </a:xfrm>
          <a:prstGeom prst="rect">
            <a:avLst/>
          </a:prstGeom>
        </p:spPr>
      </p:pic>
      <p:sp>
        <p:nvSpPr>
          <p:cNvPr id="9" name="矩形 8"/>
          <p:cNvSpPr/>
          <p:nvPr/>
        </p:nvSpPr>
        <p:spPr>
          <a:xfrm>
            <a:off x="1651000" y="0"/>
            <a:ext cx="10668000" cy="6959600"/>
          </a:xfrm>
          <a:prstGeom prst="rect">
            <a:avLst/>
          </a:prstGeom>
          <a:noFill/>
          <a:ln w="9525">
            <a:solidFill>
              <a:schemeClr val="bg2">
                <a:lumMod val="90000"/>
              </a:schemeClr>
            </a:solidFill>
          </a:ln>
          <a:effectLst>
            <a:outerShdw blurRad="50800" dist="12700" dir="11400000" algn="br" rotWithShape="0">
              <a:prstClr val="black">
                <a:alpha val="9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26085" y="115887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课题综述</a:t>
            </a:r>
          </a:p>
        </p:txBody>
      </p:sp>
      <p:sp>
        <p:nvSpPr>
          <p:cNvPr id="11" name="矩形 10"/>
          <p:cNvSpPr/>
          <p:nvPr/>
        </p:nvSpPr>
        <p:spPr>
          <a:xfrm>
            <a:off x="426085" y="193611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理论基础</a:t>
            </a:r>
          </a:p>
        </p:txBody>
      </p:sp>
      <p:sp>
        <p:nvSpPr>
          <p:cNvPr id="12" name="矩形 11"/>
          <p:cNvSpPr/>
          <p:nvPr/>
        </p:nvSpPr>
        <p:spPr>
          <a:xfrm>
            <a:off x="426085" y="271335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分析思路</a:t>
            </a:r>
          </a:p>
        </p:txBody>
      </p:sp>
      <p:sp>
        <p:nvSpPr>
          <p:cNvPr id="13" name="矩形 12"/>
          <p:cNvSpPr/>
          <p:nvPr/>
        </p:nvSpPr>
        <p:spPr>
          <a:xfrm>
            <a:off x="426085" y="349059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研究方法</a:t>
            </a:r>
          </a:p>
        </p:txBody>
      </p:sp>
      <p:sp>
        <p:nvSpPr>
          <p:cNvPr id="14" name="矩形 13"/>
          <p:cNvSpPr/>
          <p:nvPr/>
        </p:nvSpPr>
        <p:spPr>
          <a:xfrm>
            <a:off x="426085" y="4267833"/>
            <a:ext cx="1231900" cy="432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lumOff val="50000"/>
                  </a:schemeClr>
                </a:solidFill>
              </a:rPr>
              <a:t>研究结论</a:t>
            </a:r>
          </a:p>
        </p:txBody>
      </p:sp>
      <p:sp>
        <p:nvSpPr>
          <p:cNvPr id="15" name="矩形 14"/>
          <p:cNvSpPr/>
          <p:nvPr/>
        </p:nvSpPr>
        <p:spPr>
          <a:xfrm>
            <a:off x="426085" y="5045073"/>
            <a:ext cx="1231900" cy="432000"/>
          </a:xfrm>
          <a:prstGeom prst="rect">
            <a:avLst/>
          </a:prstGeom>
          <a:solidFill>
            <a:srgbClr val="6404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发表论文</a:t>
            </a:r>
          </a:p>
        </p:txBody>
      </p:sp>
    </p:spTree>
    <p:extLst>
      <p:ext uri="{BB962C8B-B14F-4D97-AF65-F5344CB8AC3E}">
        <p14:creationId xmlns:p14="http://schemas.microsoft.com/office/powerpoint/2010/main" val="646416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680306" y="2146289"/>
            <a:ext cx="3262432" cy="830997"/>
          </a:xfrm>
          <a:prstGeom prst="rect">
            <a:avLst/>
          </a:prstGeom>
          <a:noFill/>
        </p:spPr>
        <p:txBody>
          <a:bodyPr wrap="none" rtlCol="0">
            <a:spAutoFit/>
          </a:bodyPr>
          <a:lstStyle/>
          <a:p>
            <a:r>
              <a:rPr lang="zh-CN" altLang="en-US" sz="4800" b="1" dirty="0">
                <a:solidFill>
                  <a:schemeClr val="tx1"/>
                </a:solidFill>
              </a:rPr>
              <a:t>感谢聆听！</a:t>
            </a:r>
          </a:p>
        </p:txBody>
      </p:sp>
    </p:spTree>
    <p:extLst>
      <p:ext uri="{BB962C8B-B14F-4D97-AF65-F5344CB8AC3E}">
        <p14:creationId xmlns:p14="http://schemas.microsoft.com/office/powerpoint/2010/main" val="383124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lejwesgq">
      <a:majorFont>
        <a:latin typeface="Times New Roman" panose="020F0302020204030204"/>
        <a:ea typeface="微软雅黑"/>
        <a:cs typeface=""/>
      </a:majorFont>
      <a:minorFont>
        <a:latin typeface="Times New Roman"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2057A6"/>
    </a:accent1>
    <a:accent2>
      <a:srgbClr val="1B9ACC"/>
    </a:accent2>
    <a:accent3>
      <a:srgbClr val="75B729"/>
    </a:accent3>
    <a:accent4>
      <a:srgbClr val="833991"/>
    </a:accent4>
    <a:accent5>
      <a:srgbClr val="727B7A"/>
    </a:accent5>
    <a:accent6>
      <a:srgbClr val="B0AFAF"/>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
  <TotalTime>22194</TotalTime>
  <Words>450</Words>
  <Application>Microsoft Office PowerPoint</Application>
  <PresentationFormat>宽屏</PresentationFormat>
  <Paragraphs>115</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Adobe Caslon Pro</vt:lpstr>
      <vt:lpstr>Adobe Gothic Std B</vt:lpstr>
      <vt:lpstr>等线</vt:lpstr>
      <vt:lpstr>微软雅黑</vt:lpstr>
      <vt:lpstr>Arial</vt:lpstr>
      <vt:lpstr>Britannic Bold</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cindy450373277@sina.com</dc:creator>
  <cp:lastModifiedBy>马晴晴</cp:lastModifiedBy>
  <cp:revision>314</cp:revision>
  <dcterms:created xsi:type="dcterms:W3CDTF">2020-05-14T02:18:16Z</dcterms:created>
  <dcterms:modified xsi:type="dcterms:W3CDTF">2021-06-08T00:56:06Z</dcterms:modified>
</cp:coreProperties>
</file>